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5" r:id="rId4"/>
  </p:sldMasterIdLst>
  <p:notesMasterIdLst>
    <p:notesMasterId r:id="rId20"/>
  </p:notesMasterIdLst>
  <p:handoutMasterIdLst>
    <p:handoutMasterId r:id="rId21"/>
  </p:handoutMasterIdLst>
  <p:sldIdLst>
    <p:sldId id="339" r:id="rId5"/>
    <p:sldId id="351" r:id="rId6"/>
    <p:sldId id="340" r:id="rId7"/>
    <p:sldId id="341" r:id="rId8"/>
    <p:sldId id="347" r:id="rId9"/>
    <p:sldId id="352" r:id="rId10"/>
    <p:sldId id="354" r:id="rId11"/>
    <p:sldId id="355" r:id="rId12"/>
    <p:sldId id="348" r:id="rId13"/>
    <p:sldId id="359" r:id="rId14"/>
    <p:sldId id="358" r:id="rId15"/>
    <p:sldId id="353" r:id="rId16"/>
    <p:sldId id="356" r:id="rId17"/>
    <p:sldId id="357" r:id="rId18"/>
    <p:sldId id="34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68CE"/>
    <a:srgbClr val="7480D6"/>
    <a:srgbClr val="465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969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6"/>
    </p:cViewPr>
  </p:sorterViewPr>
  <p:notesViewPr>
    <p:cSldViewPr snapToGrid="0">
      <p:cViewPr>
        <p:scale>
          <a:sx n="50" d="100"/>
          <a:sy n="50" d="100"/>
        </p:scale>
        <p:origin x="3403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6D37A0-F398-4276-AAF6-E62AA90BC9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96B402-FD6E-4995-8160-C6DD76DAAC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37F7A-782D-430C-B7DE-046B665BEF14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BA7967-B488-405D-84A2-64F6D9128F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5115A-3EB4-4B47-8F4B-4F42519BF9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0885D5-D443-4228-8B2C-B9DF9A30D5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8913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CCEED-E5F4-4698-B012-83262916D7BD}" type="datetimeFigureOut">
              <a:rPr lang="en-US" noProof="0" smtClean="0"/>
              <a:t>5/18/2025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D2F9AB-3C90-481E-8C34-4F549BF455D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1717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2F9AB-3C90-481E-8C34-4F549BF455D7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792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2F9AB-3C90-481E-8C34-4F549BF455D7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14296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2F9AB-3C90-481E-8C34-4F549BF455D7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88849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2F9AB-3C90-481E-8C34-4F549BF455D7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4033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6ED9C-7FCA-1DD1-5BA1-B8E1F5142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24E394-6797-4454-70FD-E1E1F53C3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B08114-3E94-B4BC-7A59-3A2E9A122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96C3B-3BC0-4293-E0B5-45392B241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2F9AB-3C90-481E-8C34-4F549BF455D7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17920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81438-070C-D1FF-3B5C-90801B10B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97A2E5-D875-87BD-10E8-4C9178096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1AE65B-A581-6D30-CD9D-352DDB1B6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E4CDB-A158-4603-9C7D-D7CC58EBB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2F9AB-3C90-481E-8C34-4F549BF455D7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009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2F9AB-3C90-481E-8C34-4F549BF455D7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7575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2F9AB-3C90-481E-8C34-4F549BF455D7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6997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8">
            <a:extLst>
              <a:ext uri="{FF2B5EF4-FFF2-40B4-BE49-F238E27FC236}">
                <a16:creationId xmlns:a16="http://schemas.microsoft.com/office/drawing/2014/main" id="{EA812700-4F7B-0919-A294-CC362E4BD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50590889"/>
              </p:ext>
            </p:extLst>
          </p:nvPr>
        </p:nvGraphicFramePr>
        <p:xfrm>
          <a:off x="7462835" y="420624"/>
          <a:ext cx="4297680" cy="601675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9768">
                  <a:extLst>
                    <a:ext uri="{9D8B030D-6E8A-4147-A177-3AD203B41FA5}">
                      <a16:colId xmlns:a16="http://schemas.microsoft.com/office/drawing/2014/main" val="3227434602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679191072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3275508775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4103063430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4218281584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503927227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342415256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92302351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258278874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539162799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6499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8613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1250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52121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40033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74713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77281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7838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60475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02756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85068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9127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67066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701284"/>
                  </a:ext>
                </a:extLst>
              </a:tr>
            </a:tbl>
          </a:graphicData>
        </a:graphic>
      </p:graphicFrame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C4C118-FE51-F865-E568-064EE73546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85113" y="2576052"/>
            <a:ext cx="3451225" cy="2998633"/>
          </a:xfrm>
          <a:solidFill>
            <a:schemeClr val="accent2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128" y="589938"/>
            <a:ext cx="9802761" cy="3519949"/>
          </a:xfrm>
        </p:spPr>
        <p:txBody>
          <a:bodyPr/>
          <a:lstStyle>
            <a:lvl1pPr>
              <a:lnSpc>
                <a:spcPct val="90000"/>
              </a:lnSpc>
              <a:defRPr sz="8000"/>
            </a:lvl1pPr>
          </a:lstStyle>
          <a:p>
            <a:r>
              <a:rPr lang="en-US" dirty="0"/>
              <a:t>add title 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1C507B-2DF1-964E-FD34-1B05D23954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5142271"/>
            <a:ext cx="3322638" cy="9048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Add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299720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8">
            <a:extLst>
              <a:ext uri="{FF2B5EF4-FFF2-40B4-BE49-F238E27FC236}">
                <a16:creationId xmlns:a16="http://schemas.microsoft.com/office/drawing/2014/main" id="{EBF8DFED-2B0F-8F5E-DBAA-98D765435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64638672"/>
              </p:ext>
            </p:extLst>
          </p:nvPr>
        </p:nvGraphicFramePr>
        <p:xfrm>
          <a:off x="434810" y="420624"/>
          <a:ext cx="11322380" cy="601675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6119">
                  <a:extLst>
                    <a:ext uri="{9D8B030D-6E8A-4147-A177-3AD203B41FA5}">
                      <a16:colId xmlns:a16="http://schemas.microsoft.com/office/drawing/2014/main" val="3227434602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3419189744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2679191072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2978856169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3275508775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2818438643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4103063430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1109330882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4218281584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1611426398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503927227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2015270961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342415256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3483353207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2092302351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3068012968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2258278874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1953257001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539162799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1367589565"/>
                    </a:ext>
                  </a:extLst>
                </a:gridCol>
              </a:tblGrid>
              <a:tr h="859536">
                <a:tc gridSpan="20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6499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1250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52121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40033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74713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77281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7838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60475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02756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85068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9127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67066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701284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605" y="420624"/>
            <a:ext cx="11300791" cy="824949"/>
          </a:xfrm>
        </p:spPr>
        <p:txBody>
          <a:bodyPr anchor="ctr"/>
          <a:lstStyle>
            <a:lvl1pPr algn="ctr">
              <a:lnSpc>
                <a:spcPct val="90000"/>
              </a:lnSpc>
              <a:defRPr sz="2800" b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1C507B-2DF1-964E-FD34-1B05D23954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35261" y="1659392"/>
            <a:ext cx="2252101" cy="2252208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tIns="457200" anchor="t">
            <a:noAutofit/>
          </a:bodyPr>
          <a:lstStyle>
            <a:lvl1pPr marL="0" indent="0" algn="ctr">
              <a:buNone/>
              <a:defRPr sz="24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572311" y="2651125"/>
            <a:ext cx="1778000" cy="99695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DF2E8A7-89F2-752F-0DF7-B05CD19E59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69949" y="1679712"/>
            <a:ext cx="2252101" cy="2252208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tIns="457200" anchor="t">
            <a:noAutofit/>
          </a:bodyPr>
          <a:lstStyle>
            <a:lvl1pPr marL="0" indent="0" algn="ctr">
              <a:buNone/>
              <a:defRPr sz="24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86CD862-4539-E57E-AB29-3C732F86C5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5206999" y="2671445"/>
            <a:ext cx="1778000" cy="99695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7327351-F712-4BD7-35A2-EA8933FD88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202674">
            <a:off x="8614539" y="1664021"/>
            <a:ext cx="2252101" cy="2252208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tIns="457200" anchor="t">
            <a:noAutofit/>
          </a:bodyPr>
          <a:lstStyle>
            <a:lvl1pPr marL="0" indent="0" algn="ctr">
              <a:buNone/>
              <a:defRPr sz="24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CB9E4AC-A2E5-545F-FFF7-625B1BB7A8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 rot="202674">
            <a:off x="8851589" y="2655754"/>
            <a:ext cx="1778000" cy="99695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91244D88-9A35-9B80-EAFF-3557C9EB03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21388604">
            <a:off x="3100080" y="3715147"/>
            <a:ext cx="2252101" cy="2252208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tIns="457200" anchor="t">
            <a:noAutofit/>
          </a:bodyPr>
          <a:lstStyle>
            <a:lvl1pPr marL="0" indent="0" algn="ctr">
              <a:buNone/>
              <a:defRPr sz="24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51544572-3326-C8E8-C7E7-FFFA5A2D68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 rot="21388604">
            <a:off x="3337130" y="4706880"/>
            <a:ext cx="1778000" cy="99695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723B9AE5-89C8-9E36-A1BF-9CE4E268067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47484" y="3709035"/>
            <a:ext cx="2252101" cy="2252208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tIns="457200" anchor="t">
            <a:noAutofit/>
          </a:bodyPr>
          <a:lstStyle>
            <a:lvl1pPr marL="0" indent="0" algn="ctr">
              <a:buNone/>
              <a:defRPr sz="24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CD48AF07-4B45-FEDE-C05D-99E96E4540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7084534" y="4700768"/>
            <a:ext cx="1778000" cy="99695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76513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B329B88-C3B0-DEDF-BA89-4FECA7E20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1693" y="393647"/>
            <a:ext cx="11228615" cy="6070706"/>
            <a:chOff x="481693" y="393647"/>
            <a:chExt cx="11228615" cy="6070706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2757E85-6B04-10B8-38D8-C7DD17EA911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18952" y="1281179"/>
              <a:ext cx="699135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0D9B5DE-71CB-6798-3C6E-54AAB7D4F8FC}"/>
                </a:ext>
              </a:extLst>
            </p:cNvPr>
            <p:cNvGrpSpPr/>
            <p:nvPr userDrawn="1"/>
          </p:nvGrpSpPr>
          <p:grpSpPr>
            <a:xfrm>
              <a:off x="481693" y="393647"/>
              <a:ext cx="11228615" cy="6070706"/>
              <a:chOff x="481693" y="393647"/>
              <a:chExt cx="11228615" cy="6070706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6663161-DCA7-1B0A-C207-F09ADAB86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 userDrawn="1"/>
            </p:nvGrpSpPr>
            <p:grpSpPr>
              <a:xfrm>
                <a:off x="481693" y="393647"/>
                <a:ext cx="11228615" cy="6070706"/>
                <a:chOff x="481693" y="393647"/>
                <a:chExt cx="11228615" cy="6070706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DE5A6159-3269-247C-FFBE-0940C19C2B48}"/>
                    </a:ext>
                  </a:extLst>
                </p:cNvPr>
                <p:cNvSpPr/>
                <p:nvPr userDrawn="1"/>
              </p:nvSpPr>
              <p:spPr>
                <a:xfrm>
                  <a:off x="481693" y="393648"/>
                  <a:ext cx="11228615" cy="6070705"/>
                </a:xfrm>
                <a:prstGeom prst="rect">
                  <a:avLst/>
                </a:prstGeom>
                <a:no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4" name="Straight Connector 3">
                  <a:extLst>
                    <a:ext uri="{FF2B5EF4-FFF2-40B4-BE49-F238E27FC236}">
                      <a16:creationId xmlns:a16="http://schemas.microsoft.com/office/drawing/2014/main" id="{36AA070F-54CD-7244-E817-D1EEAEAE37D4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4718957" y="393647"/>
                  <a:ext cx="0" cy="607070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4B2AF797-9409-ECDA-DB46-07EC4F37F60E}"/>
                    </a:ext>
                  </a:extLst>
                </p:cNvPr>
                <p:cNvCxnSpPr/>
                <p:nvPr userDrawn="1"/>
              </p:nvCxnSpPr>
              <p:spPr>
                <a:xfrm>
                  <a:off x="10863943" y="5878287"/>
                  <a:ext cx="0" cy="58606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08123A1E-CFCD-A97E-0315-FE69EDB804D7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481693" y="3159704"/>
                  <a:ext cx="4237254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F8BCC96-50C0-4DBF-F6DC-4BDFF75A232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18957" y="5878287"/>
                <a:ext cx="699134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E4F8DC2-6173-797C-063C-ABCB06835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9111" y="3159698"/>
            <a:ext cx="4217394" cy="3289363"/>
          </a:xfrm>
          <a:ln w="12700"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1C507B-2DF1-964E-FD34-1B05D23954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18947" y="403472"/>
            <a:ext cx="6991355" cy="862432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txBody>
          <a:bodyPr tIns="0" bIns="0" anchor="ctr">
            <a:noAutofit/>
          </a:bodyPr>
          <a:lstStyle>
            <a:lvl1pPr marL="0" indent="0" algn="ctr">
              <a:buNone/>
              <a:defRPr sz="20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8308474B-1816-77B5-FB6C-C41A741699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60616" y="1749732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64549" y="1877962"/>
            <a:ext cx="4801647" cy="698090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Picture Placeholder 30">
            <a:extLst>
              <a:ext uri="{FF2B5EF4-FFF2-40B4-BE49-F238E27FC236}">
                <a16:creationId xmlns:a16="http://schemas.microsoft.com/office/drawing/2014/main" id="{B6BA8D7D-BBDF-6842-52E2-26BE7BD4B4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60616" y="3136491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D7EED23F-2C80-CBC0-124A-91B34EAC31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4549" y="3244646"/>
            <a:ext cx="4801647" cy="698090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Picture Placeholder 30">
            <a:extLst>
              <a:ext uri="{FF2B5EF4-FFF2-40B4-BE49-F238E27FC236}">
                <a16:creationId xmlns:a16="http://schemas.microsoft.com/office/drawing/2014/main" id="{B285BD9D-24CC-50AA-05B8-39DBBCC0EA5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60616" y="4450151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2A278560-5EC9-91F3-0DF2-A947D892A5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64549" y="4558306"/>
            <a:ext cx="4801647" cy="698090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2252" y="5994209"/>
            <a:ext cx="5933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182" y="5994209"/>
            <a:ext cx="474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322" y="408568"/>
            <a:ext cx="4238625" cy="2751130"/>
          </a:xfrm>
          <a:ln w="12700">
            <a:solidFill>
              <a:schemeClr val="bg1"/>
            </a:solidFill>
          </a:ln>
        </p:spPr>
        <p:txBody>
          <a:bodyPr tIns="0" bIns="0" anchor="ctr"/>
          <a:lstStyle>
            <a:lvl1pPr algn="ctr">
              <a:lnSpc>
                <a:spcPct val="100000"/>
              </a:lnSpc>
              <a:defRPr sz="4000" b="1"/>
            </a:lvl1pPr>
          </a:lstStyle>
          <a:p>
            <a:r>
              <a:rPr lang="en-US" dirty="0"/>
              <a:t>Add title here</a:t>
            </a:r>
          </a:p>
        </p:txBody>
      </p:sp>
    </p:spTree>
    <p:extLst>
      <p:ext uri="{BB962C8B-B14F-4D97-AF65-F5344CB8AC3E}">
        <p14:creationId xmlns:p14="http://schemas.microsoft.com/office/powerpoint/2010/main" val="273132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79551DA-AB5E-4A9C-38E9-26E265447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1693" y="393647"/>
            <a:ext cx="11228615" cy="6070706"/>
            <a:chOff x="481693" y="393647"/>
            <a:chExt cx="11228615" cy="607070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E5A6159-3269-247C-FFBE-0940C19C2B48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6AA070F-54CD-7244-E817-D1EEAEAE37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18957" y="393647"/>
              <a:ext cx="0" cy="607070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B2AF797-9409-ECDA-DB46-07EC4F37F60E}"/>
                </a:ext>
              </a:extLst>
            </p:cNvPr>
            <p:cNvCxnSpPr/>
            <p:nvPr userDrawn="1"/>
          </p:nvCxnSpPr>
          <p:spPr>
            <a:xfrm>
              <a:off x="10863943" y="5878287"/>
              <a:ext cx="0" cy="58606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2757E85-6B04-10B8-38D8-C7DD17EA911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18952" y="1281179"/>
              <a:ext cx="699135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F8BCC96-50C0-4DBF-F6DC-4BDFF75A23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18957" y="5878287"/>
              <a:ext cx="699134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8272" y="393646"/>
            <a:ext cx="6955946" cy="867815"/>
          </a:xfrm>
        </p:spPr>
        <p:txBody>
          <a:bodyPr tIns="0" bIns="0" anchor="ctr"/>
          <a:lstStyle>
            <a:lvl1pPr algn="ctr">
              <a:lnSpc>
                <a:spcPct val="100000"/>
              </a:lnSpc>
              <a:defRPr sz="4000" b="1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9" name="Picture Placeholder 28">
            <a:extLst>
              <a:ext uri="{FF2B5EF4-FFF2-40B4-BE49-F238E27FC236}">
                <a16:creationId xmlns:a16="http://schemas.microsoft.com/office/drawing/2014/main" id="{1508BA2B-29F0-302A-67E4-8322089846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89199" y="413364"/>
            <a:ext cx="4238625" cy="3356579"/>
          </a:xfrm>
          <a:ln w="127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E4F8DC2-6173-797C-063C-ABCB06835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9199" y="3765754"/>
            <a:ext cx="4238625" cy="2678881"/>
          </a:xfrm>
          <a:ln w="127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79922" y="1877961"/>
            <a:ext cx="6066499" cy="3698859"/>
          </a:xfrm>
        </p:spPr>
        <p:txBody>
          <a:bodyPr anchor="t">
            <a:normAutofit/>
          </a:bodyPr>
          <a:lstStyle>
            <a:lvl1pPr marL="285750" indent="-285750" algn="l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2252" y="5994209"/>
            <a:ext cx="5933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182" y="5994209"/>
            <a:ext cx="474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88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Focus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0AA671-B458-75A5-FEDC-88210D822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72440" y="393648"/>
            <a:ext cx="11247120" cy="6070705"/>
            <a:chOff x="472440" y="393648"/>
            <a:chExt cx="11247120" cy="607070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8070B43-A554-EF44-F090-0152A26B670B}"/>
                </a:ext>
              </a:extLst>
            </p:cNvPr>
            <p:cNvGrpSpPr/>
            <p:nvPr userDrawn="1"/>
          </p:nvGrpSpPr>
          <p:grpSpPr>
            <a:xfrm>
              <a:off x="4449018" y="3035782"/>
              <a:ext cx="3216339" cy="2488545"/>
              <a:chOff x="4493183" y="3035782"/>
              <a:chExt cx="3216339" cy="2488545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35F32AC8-D0FB-5633-A246-97E5484338E2}"/>
                  </a:ext>
                </a:extLst>
              </p:cNvPr>
              <p:cNvSpPr/>
              <p:nvPr userDrawn="1"/>
            </p:nvSpPr>
            <p:spPr>
              <a:xfrm>
                <a:off x="4503887" y="3035782"/>
                <a:ext cx="3205635" cy="1048119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82655351-4CA5-7030-797E-8AD884256DEB}"/>
                  </a:ext>
                </a:extLst>
              </p:cNvPr>
              <p:cNvSpPr/>
              <p:nvPr userDrawn="1"/>
            </p:nvSpPr>
            <p:spPr>
              <a:xfrm>
                <a:off x="4493183" y="4476208"/>
                <a:ext cx="3205635" cy="1048119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E5A6159-3269-247C-FFBE-0940C19C2B48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F115498-45E0-83E4-6C2A-B0F8598CC34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2440" y="1291011"/>
              <a:ext cx="1124712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CE35A2D-88FA-6FF8-0B67-6386DECEFBD0}"/>
                </a:ext>
              </a:extLst>
            </p:cNvPr>
            <p:cNvGrpSpPr/>
            <p:nvPr userDrawn="1"/>
          </p:nvGrpSpPr>
          <p:grpSpPr>
            <a:xfrm>
              <a:off x="481694" y="1300843"/>
              <a:ext cx="11228613" cy="5163510"/>
              <a:chOff x="481693" y="1300843"/>
              <a:chExt cx="11228613" cy="5163510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2C4006F0-8F76-A8D3-67AF-77573E5C34B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034129" y="1300843"/>
                <a:ext cx="0" cy="516351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0C515FE9-A175-C681-A291-4676AEF27BF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157873" y="1300843"/>
                <a:ext cx="0" cy="513736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2E1B1C58-815E-DA91-6DDD-C5DEEB6ADD8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481693" y="1300843"/>
                <a:ext cx="11228613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692" y="423142"/>
            <a:ext cx="11192526" cy="837489"/>
          </a:xfrm>
        </p:spPr>
        <p:txBody>
          <a:bodyPr tIns="0" bIns="0" anchor="ctr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Picture Placeholder 28">
            <a:extLst>
              <a:ext uri="{FF2B5EF4-FFF2-40B4-BE49-F238E27FC236}">
                <a16:creationId xmlns:a16="http://schemas.microsoft.com/office/drawing/2014/main" id="{768BF372-EE3D-B6C9-DBFD-32FAA3C73BD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1768" y="1310640"/>
            <a:ext cx="3505938" cy="5124217"/>
          </a:xfrm>
          <a:ln w="12700"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4200" y="6102362"/>
            <a:ext cx="3264218" cy="272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5A131435-86E8-B8C3-7DA2-65F5A5EAB1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54370" y="1402746"/>
            <a:ext cx="3205635" cy="1048120"/>
          </a:xfrm>
          <a:prstGeom prst="rect">
            <a:avLst/>
          </a:prstGeom>
          <a:noFill/>
          <a:ln w="22225">
            <a:noFill/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 cap="all" baseline="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7485" y="2536721"/>
            <a:ext cx="2379405" cy="1048119"/>
          </a:xfrm>
          <a:prstGeom prst="roundRect">
            <a:avLst/>
          </a:prstGeom>
          <a:solidFill>
            <a:schemeClr val="accent3"/>
          </a:solidFill>
          <a:ln w="2222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B0DE4F42-71D8-6F18-9C5A-EC7A4B0C6C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67485" y="3753589"/>
            <a:ext cx="2379405" cy="1048119"/>
          </a:xfrm>
          <a:prstGeom prst="roundRect">
            <a:avLst/>
          </a:prstGeom>
          <a:solidFill>
            <a:schemeClr val="accent3"/>
          </a:solidFill>
          <a:ln w="2222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1987EDF9-4ED4-5490-17AF-99478B543C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67485" y="4970457"/>
            <a:ext cx="2379405" cy="1048119"/>
          </a:xfrm>
          <a:prstGeom prst="roundRect">
            <a:avLst/>
          </a:prstGeom>
          <a:solidFill>
            <a:schemeClr val="accent3"/>
          </a:solidFill>
          <a:ln w="2222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E4F8DC2-6173-797C-063C-ABCB06835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0607" y="1314450"/>
            <a:ext cx="3513444" cy="5120408"/>
          </a:xfrm>
          <a:ln w="12700"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8661" y="6092534"/>
            <a:ext cx="474545" cy="272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95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088FB69-6A93-1165-DBF9-B08593CF2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1684" y="393647"/>
            <a:ext cx="11228624" cy="6070706"/>
            <a:chOff x="481684" y="393647"/>
            <a:chExt cx="11228624" cy="607070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E3FE074-831A-0B85-0AD4-E42448E535B2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AA8433C-5928-3201-B929-9809BC39026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3726180" y="1300843"/>
              <a:ext cx="798412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091CA17-2FF6-F3C2-2E78-030072AE1E8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26180" y="393647"/>
              <a:ext cx="0" cy="607070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41360D2-FD77-4587-2725-382B41D5C8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1684" y="5878287"/>
              <a:ext cx="1122862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88B16A6-C3DD-6DF0-14F1-2181171658A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86830" y="1300843"/>
              <a:ext cx="0" cy="45774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01B593-AEAF-46CF-9D54-9A953D102C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056580" y="1300843"/>
              <a:ext cx="0" cy="45774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4F028DD-DB18-678A-9B3E-08377E00AAC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3717081" y="3567922"/>
              <a:ext cx="798412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2582" y="393646"/>
            <a:ext cx="3260519" cy="5484640"/>
          </a:xfrm>
        </p:spPr>
        <p:txBody>
          <a:bodyPr tIns="0" bIns="0" anchor="ctr"/>
          <a:lstStyle>
            <a:lvl1pPr algn="ctr">
              <a:lnSpc>
                <a:spcPct val="100000"/>
              </a:lnSpc>
              <a:defRPr sz="4000" b="1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1C507B-2DF1-964E-FD34-1B05D23954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65355" y="403472"/>
            <a:ext cx="7916188" cy="862432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txBody>
          <a:bodyPr tIns="0" bIns="0" anchor="ctr">
            <a:noAutofit/>
          </a:bodyPr>
          <a:lstStyle>
            <a:lvl1pPr marL="0" indent="0" algn="ctr">
              <a:buNone/>
              <a:defRPr sz="28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8308474B-1816-77B5-FB6C-C41A741699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28501" y="1797062"/>
            <a:ext cx="1371600" cy="137160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17112" y="1848465"/>
            <a:ext cx="2202425" cy="1320193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Picture Placeholder 30">
            <a:extLst>
              <a:ext uri="{FF2B5EF4-FFF2-40B4-BE49-F238E27FC236}">
                <a16:creationId xmlns:a16="http://schemas.microsoft.com/office/drawing/2014/main" id="{8104E534-50EC-8AA3-6CBA-04C9C718619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702192" y="1797058"/>
            <a:ext cx="1371600" cy="137160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DB5476F6-55CD-2278-07A7-62ED02C00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08318" y="3909075"/>
            <a:ext cx="2296356" cy="1745427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Picture Placeholder 30">
            <a:extLst>
              <a:ext uri="{FF2B5EF4-FFF2-40B4-BE49-F238E27FC236}">
                <a16:creationId xmlns:a16="http://schemas.microsoft.com/office/drawing/2014/main" id="{35789C28-53CB-4473-F779-107B46AEEBD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99162" y="3952693"/>
            <a:ext cx="1371600" cy="137160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95492A24-37AC-C8FF-FE2A-EE13D2C3FC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36879" y="3909075"/>
            <a:ext cx="2296356" cy="1745427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0272" y="5983423"/>
            <a:ext cx="30970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24749" y="5983423"/>
            <a:ext cx="7728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392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032EDE-70AC-8A1B-FDCC-E78CADAAE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1693" y="393647"/>
            <a:ext cx="11234963" cy="6070706"/>
            <a:chOff x="481693" y="393647"/>
            <a:chExt cx="11234963" cy="607070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576B25-0313-BCA2-89A4-F40505705FF4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7C9A29B-58A9-DEE3-6FDA-84D01C556C6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266305" y="1300843"/>
              <a:ext cx="444400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3C76CA7-A606-0822-24A8-12A4E989A2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266305" y="393647"/>
              <a:ext cx="0" cy="607070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8B4BC5D-AE5C-4860-D8FF-52E05CAD2A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266305" y="5878287"/>
              <a:ext cx="445035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DB9FCC7-5BD3-AC42-56C2-547FB5ADEF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828655" y="5878287"/>
              <a:ext cx="0" cy="58606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27242" y="403478"/>
            <a:ext cx="4314145" cy="862423"/>
          </a:xfrm>
        </p:spPr>
        <p:txBody>
          <a:bodyPr tIns="0" bIns="0" anchor="ctr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E4F8DC2-6173-797C-063C-ABCB06835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1526" y="413311"/>
            <a:ext cx="6756966" cy="6005015"/>
          </a:xfrm>
          <a:ln w="12700"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27242" y="1365282"/>
            <a:ext cx="4314143" cy="4478062"/>
          </a:xfrm>
        </p:spPr>
        <p:txBody>
          <a:bodyPr lIns="457200" tIns="822960" rIns="45720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86234" y="5994209"/>
            <a:ext cx="33613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182" y="5994209"/>
            <a:ext cx="474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732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24329E9-A968-FB95-104A-91844CBA1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72440" y="393648"/>
            <a:ext cx="11247120" cy="6070705"/>
            <a:chOff x="472440" y="393648"/>
            <a:chExt cx="11247120" cy="607070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E5A6159-3269-247C-FFBE-0940C19C2B48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F115498-45E0-83E4-6C2A-B0F8598CC34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2440" y="1291011"/>
              <a:ext cx="1124712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E1B1C58-815E-DA91-6DDD-C5DEEB6ADD88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81694" y="1300843"/>
              <a:ext cx="1122861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677EEC2-EC0E-1781-4321-659905F5D3E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1693" y="5878287"/>
              <a:ext cx="112349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5EC12EB-D748-8042-FB32-180B15CF11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5878287"/>
              <a:ext cx="0" cy="58606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692" y="423142"/>
            <a:ext cx="11192526" cy="898250"/>
          </a:xfrm>
        </p:spPr>
        <p:txBody>
          <a:bodyPr tIns="0" bIns="0" anchor="ctr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7020" y="1992113"/>
            <a:ext cx="2409038" cy="1350855"/>
          </a:xfrm>
          <a:prstGeom prst="roundRect">
            <a:avLst/>
          </a:prstGeom>
          <a:solidFill>
            <a:schemeClr val="accent2"/>
          </a:solidFill>
          <a:ln w="22225">
            <a:solidFill>
              <a:schemeClr val="bg1"/>
            </a:solidFill>
          </a:ln>
        </p:spPr>
        <p:txBody>
          <a:bodyPr tIns="18288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CCCE9902-3760-30D6-4810-136B44F0C3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1484671" y="2558848"/>
            <a:ext cx="2113935" cy="691892"/>
          </a:xfrm>
        </p:spPr>
        <p:txBody>
          <a:bodyPr tIns="0" anchor="t">
            <a:normAutofit/>
          </a:bodyPr>
          <a:lstStyle>
            <a:lvl1pPr marL="0" indent="0" algn="ctr"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E9C3A057-F1F1-A85C-5C3E-1178CF5812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91481" y="1992113"/>
            <a:ext cx="2409038" cy="1350855"/>
          </a:xfrm>
          <a:prstGeom prst="roundRect">
            <a:avLst/>
          </a:prstGeom>
          <a:solidFill>
            <a:schemeClr val="accent2"/>
          </a:solidFill>
          <a:ln w="22225">
            <a:solidFill>
              <a:schemeClr val="bg1"/>
            </a:solidFill>
          </a:ln>
        </p:spPr>
        <p:txBody>
          <a:bodyPr tIns="18288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31">
            <a:extLst>
              <a:ext uri="{FF2B5EF4-FFF2-40B4-BE49-F238E27FC236}">
                <a16:creationId xmlns:a16="http://schemas.microsoft.com/office/drawing/2014/main" id="{10F6D65A-37FE-C1AE-FE7B-977A41C0682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029132" y="2558848"/>
            <a:ext cx="2113935" cy="691892"/>
          </a:xfrm>
        </p:spPr>
        <p:txBody>
          <a:bodyPr tIns="0" anchor="t">
            <a:normAutofit/>
          </a:bodyPr>
          <a:lstStyle>
            <a:lvl1pPr marL="0" indent="0" algn="ctr"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B3A456EE-EA99-A703-7AB6-449610F602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5942" y="1994348"/>
            <a:ext cx="2409038" cy="1350855"/>
          </a:xfrm>
          <a:prstGeom prst="roundRect">
            <a:avLst/>
          </a:prstGeom>
          <a:solidFill>
            <a:schemeClr val="accent2"/>
          </a:solidFill>
          <a:ln w="22225">
            <a:solidFill>
              <a:schemeClr val="bg1"/>
            </a:solidFill>
          </a:ln>
        </p:spPr>
        <p:txBody>
          <a:bodyPr tIns="18288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31">
            <a:extLst>
              <a:ext uri="{FF2B5EF4-FFF2-40B4-BE49-F238E27FC236}">
                <a16:creationId xmlns:a16="http://schemas.microsoft.com/office/drawing/2014/main" id="{2C0E7BC7-C776-FDD4-7639-0B6649572D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573593" y="2561083"/>
            <a:ext cx="2113935" cy="691892"/>
          </a:xfrm>
        </p:spPr>
        <p:txBody>
          <a:bodyPr tIns="0" anchor="t">
            <a:normAutofit/>
          </a:bodyPr>
          <a:lstStyle>
            <a:lvl1pPr marL="0" indent="0" algn="ctr"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0EE9A59A-DD07-2A19-A496-5B43AF272D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7340" y="3939132"/>
            <a:ext cx="2409038" cy="1350855"/>
          </a:xfrm>
          <a:prstGeom prst="roundRect">
            <a:avLst/>
          </a:prstGeom>
          <a:solidFill>
            <a:schemeClr val="accent2"/>
          </a:solidFill>
          <a:ln w="22225">
            <a:solidFill>
              <a:schemeClr val="bg1"/>
            </a:solidFill>
          </a:ln>
        </p:spPr>
        <p:txBody>
          <a:bodyPr tIns="18288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31">
            <a:extLst>
              <a:ext uri="{FF2B5EF4-FFF2-40B4-BE49-F238E27FC236}">
                <a16:creationId xmlns:a16="http://schemas.microsoft.com/office/drawing/2014/main" id="{0B3477B9-B092-AAA0-9465-B3D589AB78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254991" y="4505867"/>
            <a:ext cx="2113935" cy="691892"/>
          </a:xfrm>
        </p:spPr>
        <p:txBody>
          <a:bodyPr tIns="0" anchor="t">
            <a:normAutofit/>
          </a:bodyPr>
          <a:lstStyle>
            <a:lvl1pPr marL="0" indent="0" algn="ctr"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C03452E-A59E-6FD5-2E14-D01D1D1937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61801" y="3941367"/>
            <a:ext cx="2409038" cy="1350855"/>
          </a:xfrm>
          <a:prstGeom prst="roundRect">
            <a:avLst/>
          </a:prstGeom>
          <a:solidFill>
            <a:schemeClr val="accent2"/>
          </a:solidFill>
          <a:ln w="22225">
            <a:solidFill>
              <a:schemeClr val="bg1"/>
            </a:solidFill>
          </a:ln>
        </p:spPr>
        <p:txBody>
          <a:bodyPr tIns="18288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0" name="Text Placeholder 31">
            <a:extLst>
              <a:ext uri="{FF2B5EF4-FFF2-40B4-BE49-F238E27FC236}">
                <a16:creationId xmlns:a16="http://schemas.microsoft.com/office/drawing/2014/main" id="{F8ACFA3E-CD6D-F94F-6F9C-024B2C0027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799452" y="4508102"/>
            <a:ext cx="2113935" cy="691892"/>
          </a:xfrm>
        </p:spPr>
        <p:txBody>
          <a:bodyPr tIns="0" anchor="t">
            <a:normAutofit/>
          </a:bodyPr>
          <a:lstStyle>
            <a:lvl1pPr marL="0" indent="0" algn="ctr"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2856" y="5990069"/>
            <a:ext cx="525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4098" y="5990069"/>
            <a:ext cx="7129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06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088FB69-6A93-1165-DBF9-B08593CF2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1684" y="393647"/>
            <a:ext cx="11228624" cy="6070706"/>
            <a:chOff x="481684" y="393647"/>
            <a:chExt cx="11228624" cy="607070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E3FE074-831A-0B85-0AD4-E42448E535B2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091CA17-2FF6-F3C2-2E78-030072AE1E8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26180" y="393647"/>
              <a:ext cx="0" cy="607070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41360D2-FD77-4587-2725-382B41D5C8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1684" y="5878287"/>
              <a:ext cx="1122862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2582" y="393646"/>
            <a:ext cx="3260519" cy="5484640"/>
          </a:xfrm>
        </p:spPr>
        <p:txBody>
          <a:bodyPr tIns="0" bIns="0" anchor="ctr"/>
          <a:lstStyle>
            <a:lvl1pPr algn="ctr">
              <a:lnSpc>
                <a:spcPct val="100000"/>
              </a:lnSpc>
              <a:defRPr sz="4000" b="1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8308474B-1816-77B5-FB6C-C41A741699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61658" y="934066"/>
            <a:ext cx="731520" cy="73152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7742" y="934066"/>
            <a:ext cx="5958348" cy="862991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Picture Placeholder 30">
            <a:extLst>
              <a:ext uri="{FF2B5EF4-FFF2-40B4-BE49-F238E27FC236}">
                <a16:creationId xmlns:a16="http://schemas.microsoft.com/office/drawing/2014/main" id="{6F57637A-A06D-900E-8535-6AA509EBDC2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61658" y="2144633"/>
            <a:ext cx="731520" cy="73152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C76314CE-90DE-BC3F-0583-8887631078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07742" y="2078898"/>
            <a:ext cx="5958348" cy="862991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Picture Placeholder 30">
            <a:extLst>
              <a:ext uri="{FF2B5EF4-FFF2-40B4-BE49-F238E27FC236}">
                <a16:creationId xmlns:a16="http://schemas.microsoft.com/office/drawing/2014/main" id="{5ED6CFA2-D90A-73B5-58F2-0A109596980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61658" y="3296662"/>
            <a:ext cx="731520" cy="73152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0491A95C-9334-52D0-DA80-A40E91351F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07742" y="3230927"/>
            <a:ext cx="5958348" cy="862991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Picture Placeholder 30">
            <a:extLst>
              <a:ext uri="{FF2B5EF4-FFF2-40B4-BE49-F238E27FC236}">
                <a16:creationId xmlns:a16="http://schemas.microsoft.com/office/drawing/2014/main" id="{C727F284-B480-4165-FA10-5FB2EFA8D01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61658" y="4597186"/>
            <a:ext cx="731520" cy="73152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C106AB72-F782-1011-E73F-82AB10F338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07742" y="4363618"/>
            <a:ext cx="5958348" cy="1205135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1356" y="5990069"/>
            <a:ext cx="3097071" cy="365125"/>
          </a:xfrm>
          <a:prstGeom prst="rect">
            <a:avLst/>
          </a:prstGeom>
        </p:spPr>
        <p:txBody>
          <a:bodyPr vert="horz" lIns="457200" tIns="45720" rIns="91440" bIns="45720" rtlCol="0" anchor="ctr"/>
          <a:lstStyle>
            <a:lvl1pPr algn="l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24749" y="5990069"/>
            <a:ext cx="7728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433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24329E9-A968-FB95-104A-91844CBA17ED}"/>
              </a:ext>
            </a:extLst>
          </p:cNvPr>
          <p:cNvGrpSpPr/>
          <p:nvPr userDrawn="1"/>
        </p:nvGrpSpPr>
        <p:grpSpPr>
          <a:xfrm>
            <a:off x="481693" y="393648"/>
            <a:ext cx="11234963" cy="6070705"/>
            <a:chOff x="481693" y="393648"/>
            <a:chExt cx="11234963" cy="607070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E5A6159-3269-247C-FFBE-0940C19C2B48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E1B1C58-815E-DA91-6DDD-C5DEEB6ADD88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81694" y="3916228"/>
              <a:ext cx="1122861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677EEC2-EC0E-1781-4321-659905F5D3E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1693" y="5878287"/>
              <a:ext cx="112349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5EC12EB-D748-8042-FB32-180B15CF11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5878287"/>
              <a:ext cx="0" cy="58606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356" y="4060726"/>
            <a:ext cx="11192526" cy="835740"/>
          </a:xfrm>
        </p:spPr>
        <p:txBody>
          <a:bodyPr lIns="457200" tIns="0" bIns="0" anchor="ctr"/>
          <a:lstStyle>
            <a:lvl1pPr algn="l">
              <a:lnSpc>
                <a:spcPct val="100000"/>
              </a:lnSpc>
              <a:defRPr sz="4000" b="1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1356" y="5990069"/>
            <a:ext cx="5530650" cy="365125"/>
          </a:xfrm>
          <a:prstGeom prst="rect">
            <a:avLst/>
          </a:prstGeom>
        </p:spPr>
        <p:txBody>
          <a:bodyPr vert="horz" lIns="457200" tIns="45720" rIns="91440" bIns="45720" rtlCol="0" anchor="ctr"/>
          <a:lstStyle>
            <a:lvl1pPr algn="l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6865" y="5990069"/>
            <a:ext cx="7129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FE12DB-463B-5E38-0249-595352F6A5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1356" y="4959086"/>
            <a:ext cx="11193462" cy="757553"/>
          </a:xfrm>
        </p:spPr>
        <p:txBody>
          <a:bodyPr lIns="457200" anchor="t"/>
          <a:lstStyle>
            <a:lvl1pPr marL="0" indent="0">
              <a:buNone/>
              <a:defRPr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22CBCEA-1B14-60E2-F8BE-92C510D427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1445" y="413364"/>
            <a:ext cx="11173539" cy="348932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878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BE0D1B6-1F1E-CCFB-6D36-DC3039C38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1693" y="393648"/>
            <a:ext cx="11235864" cy="6070705"/>
            <a:chOff x="481693" y="393648"/>
            <a:chExt cx="11235864" cy="607070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E5A6159-3269-247C-FFBE-0940C19C2B48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F8BCC96-50C0-4DBF-F6DC-4BDFF75A23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68117" y="6035602"/>
              <a:ext cx="694944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70F1688-BA83-03DC-2B74-7A82D939F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68224463"/>
              </p:ext>
            </p:extLst>
          </p:nvPr>
        </p:nvGraphicFramePr>
        <p:xfrm>
          <a:off x="490524" y="399329"/>
          <a:ext cx="4297680" cy="60707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9768">
                  <a:extLst>
                    <a:ext uri="{9D8B030D-6E8A-4147-A177-3AD203B41FA5}">
                      <a16:colId xmlns:a16="http://schemas.microsoft.com/office/drawing/2014/main" val="3227434602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679191072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3275508775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4103063430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4218281584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503927227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342415256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92302351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258278874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539162799"/>
                    </a:ext>
                  </a:extLst>
                </a:gridCol>
              </a:tblGrid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64993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86137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12509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521216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400337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747136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772814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78386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604750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027561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850680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912702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670666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701284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3781" y="658762"/>
            <a:ext cx="6351638" cy="5201247"/>
          </a:xfrm>
        </p:spPr>
        <p:txBody>
          <a:bodyPr lIns="457200" tIns="0" rIns="457200" bIns="0" anchor="ctr"/>
          <a:lstStyle>
            <a:lvl1pPr algn="ctr">
              <a:lnSpc>
                <a:spcPct val="100000"/>
              </a:lnSpc>
              <a:defRPr sz="8000" b="1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E4F8DC2-6173-797C-063C-ABCB06835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3928" y="838200"/>
            <a:ext cx="3429000" cy="3026664"/>
          </a:xfr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4880" y="4748981"/>
            <a:ext cx="3434141" cy="84557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222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B684C2F-977D-54D2-F9DB-5A0CC3DF1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53781" y="6085795"/>
            <a:ext cx="3428434" cy="294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182" y="6115665"/>
            <a:ext cx="474545" cy="243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585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A4B42F-2C80-4037-BF8E-C209D59D93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35376"/>
            <a:ext cx="2844799" cy="365125"/>
          </a:xfrm>
        </p:spPr>
        <p:txBody>
          <a:bodyPr/>
          <a:lstStyle/>
          <a:p>
            <a:fld id="{91CD4B7E-D172-41E4-BE36-64B5A7E393CD}" type="datetimeFigureOut">
              <a:rPr lang="en-US" noProof="0" smtClean="0"/>
              <a:t>5/18/2025</a:t>
            </a:fld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56474-3A38-4097-8649-FAF662D8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35376"/>
            <a:ext cx="1052510" cy="365125"/>
          </a:xfrm>
        </p:spPr>
        <p:txBody>
          <a:bodyPr/>
          <a:lstStyle/>
          <a:p>
            <a:fld id="{F603CDE5-C1D8-4EDD-870F-A498BAFA520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FF907DD0-6A5F-4994-AB77-82E297226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35376"/>
            <a:ext cx="6818262" cy="365125"/>
          </a:xfrm>
        </p:spPr>
        <p:txBody>
          <a:bodyPr/>
          <a:lstStyle/>
          <a:p>
            <a:pPr algn="l"/>
            <a:r>
              <a:rPr lang="en-US" noProof="0" dirty="0"/>
              <a:t>Teach a Course</a:t>
            </a:r>
          </a:p>
        </p:txBody>
      </p:sp>
    </p:spTree>
    <p:extLst>
      <p:ext uri="{BB962C8B-B14F-4D97-AF65-F5344CB8AC3E}">
        <p14:creationId xmlns:p14="http://schemas.microsoft.com/office/powerpoint/2010/main" val="2902114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0A7F1CA9-BED2-4756-8AEF-E0F68B0488B6}" type="datetime1">
              <a:rPr lang="en-US" smtClean="0"/>
              <a:pPr/>
              <a:t>5/18/2025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940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95363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872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36" r:id="rId12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bg1"/>
        </a:buClr>
        <a:buSzPct val="92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609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bg1"/>
        </a:buClr>
        <a:buSzPct val="92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91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bg1"/>
        </a:buClr>
        <a:buSzPct val="92000"/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1794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bg1"/>
        </a:buClr>
        <a:buSzPct val="92000"/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4pPr>
      <a:lvl5pPr marL="15394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bg1"/>
        </a:buClr>
        <a:buSzPct val="92000"/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group of women working together ">
            <a:extLst>
              <a:ext uri="{FF2B5EF4-FFF2-40B4-BE49-F238E27FC236}">
                <a16:creationId xmlns:a16="http://schemas.microsoft.com/office/drawing/2014/main" id="{0C1659CC-4590-9683-6670-EEE2A7FB4A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486" b="486"/>
          <a:stretch/>
        </p:blipFill>
        <p:spPr>
          <a:xfrm>
            <a:off x="7885113" y="2576052"/>
            <a:ext cx="3451225" cy="2998633"/>
          </a:xfr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2A7A4DC1-E50C-440F-5AAD-B8FF3E74F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609" y="450423"/>
            <a:ext cx="7505504" cy="5957154"/>
          </a:xfrm>
        </p:spPr>
        <p:txBody>
          <a:bodyPr/>
          <a:lstStyle/>
          <a:p>
            <a:r>
              <a:rPr lang="en-US" sz="6600" dirty="0"/>
              <a:t>Train </a:t>
            </a:r>
            <a:r>
              <a:rPr lang="en-US" sz="6600" dirty="0">
                <a:solidFill>
                  <a:srgbClr val="002060"/>
                </a:solidFill>
              </a:rPr>
              <a:t>S-A-C</a:t>
            </a:r>
            <a:r>
              <a:rPr lang="en-US" sz="6600" dirty="0"/>
              <a:t> Agent for Ball Balance Control Using </a:t>
            </a:r>
            <a:r>
              <a:rPr lang="en-US" sz="6600" dirty="0">
                <a:solidFill>
                  <a:srgbClr val="002060"/>
                </a:solidFill>
              </a:rPr>
              <a:t>RL</a:t>
            </a:r>
            <a:r>
              <a:rPr lang="en-US" sz="6600" dirty="0"/>
              <a:t> Agents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62CC159-4789-0E92-08AE-ECCAB12B67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5142271"/>
            <a:ext cx="3322638" cy="904824"/>
          </a:xfrm>
        </p:spPr>
        <p:txBody>
          <a:bodyPr/>
          <a:lstStyle/>
          <a:p>
            <a:r>
              <a:rPr lang="en-US" dirty="0"/>
              <a:t>Kramer-Correia Construction</a:t>
            </a:r>
          </a:p>
        </p:txBody>
      </p:sp>
    </p:spTree>
    <p:extLst>
      <p:ext uri="{BB962C8B-B14F-4D97-AF65-F5344CB8AC3E}">
        <p14:creationId xmlns:p14="http://schemas.microsoft.com/office/powerpoint/2010/main" val="172385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CC374-3409-DF66-1723-FF8522DB3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Objectives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B79E0-AFF6-E96F-9AB1-C023DD372F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/>
          </a:bodyPr>
          <a:lstStyle/>
          <a:p>
            <a:r>
              <a:rPr lang="en-US" b="0" i="0" dirty="0">
                <a:effectLst/>
                <a:latin typeface="fkGroteskNeue"/>
              </a:rPr>
              <a:t>Study the kinematics of the Kinova Gen3 robot arm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AF9A77-858C-F24C-26A5-2DB072EBF9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 i="0" dirty="0">
                <a:effectLst/>
                <a:latin typeface="fkGroteskNeue"/>
              </a:rPr>
              <a:t>Generate a proper quintic trajectory and train the robot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ADA285-A421-1113-E275-A4FD8A5D48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 i="0" dirty="0">
                <a:effectLst/>
                <a:latin typeface="fkGroteskNeue"/>
              </a:rPr>
              <a:t>Train a Soft Actor-Critic (SAC) reinforcement learning agent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9935A43-7E89-E3F6-A23B-DED47AC4ECF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7020" y="3941366"/>
            <a:ext cx="2409038" cy="1350855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latin typeface="fkGroteskNeue"/>
              </a:rPr>
              <a:t>Design an effective reward function.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55B4D70-ABCC-43A1-E5D7-94BB3557932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873436" y="3925329"/>
            <a:ext cx="2409038" cy="1350855"/>
          </a:xfrm>
        </p:spPr>
        <p:txBody>
          <a:bodyPr>
            <a:normAutofit fontScale="92500" lnSpcReduction="20000"/>
          </a:bodyPr>
          <a:lstStyle/>
          <a:p>
            <a:r>
              <a:rPr lang="en-US" b="0" i="0">
                <a:effectLst/>
                <a:latin typeface="fkGroteskNeue"/>
              </a:rPr>
              <a:t>Design appropriate policy and value functions for the SAC agent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FF4A478-69D8-2B12-BA40-D9C4144BC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4A5CB4D-4C91-3AA2-C069-1EACDCECD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1E3B8FD-F7D0-DE74-4F06-CD8BCA646599}"/>
              </a:ext>
            </a:extLst>
          </p:cNvPr>
          <p:cNvSpPr txBox="1">
            <a:spLocks/>
          </p:cNvSpPr>
          <p:nvPr/>
        </p:nvSpPr>
        <p:spPr>
          <a:xfrm>
            <a:off x="8435942" y="3925328"/>
            <a:ext cx="2409038" cy="1350855"/>
          </a:xfrm>
          <a:prstGeom prst="roundRect">
            <a:avLst/>
          </a:prstGeom>
          <a:solidFill>
            <a:schemeClr val="accent2"/>
          </a:solidFill>
          <a:ln w="22225">
            <a:solidFill>
              <a:schemeClr val="bg1"/>
            </a:solidFill>
          </a:ln>
        </p:spPr>
        <p:txBody>
          <a:bodyPr vert="horz" lIns="91440" tIns="182880" rIns="91440" bIns="45720" rtlCol="0" anchor="t">
            <a:normAutofit fontScale="92500" lnSpcReduction="20000"/>
          </a:bodyPr>
          <a:lstStyle>
            <a:lvl1pPr marL="0" indent="0" algn="ctr" defTabSz="457200" rtl="0" eaLnBrk="1" latinLnBrk="0" hangingPunct="1"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24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30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08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68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effectLst/>
                <a:latin typeface="fkGroteskNeue"/>
              </a:rPr>
              <a:t>Compare the performance of different trained agents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906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77">
            <a:extLst>
              <a:ext uri="{FF2B5EF4-FFF2-40B4-BE49-F238E27FC236}">
                <a16:creationId xmlns:a16="http://schemas.microsoft.com/office/drawing/2014/main" id="{A2DC73CD-9A7B-4B8B-45B7-9126C3749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605" y="420624"/>
            <a:ext cx="11300791" cy="824949"/>
          </a:xfrm>
        </p:spPr>
        <p:txBody>
          <a:bodyPr/>
          <a:lstStyle/>
          <a:p>
            <a:r>
              <a:rPr lang="en-US" dirty="0"/>
              <a:t>What We will discuss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ADB62453-4969-6C70-7DA2-BCCA22A25B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5261" y="1659392"/>
            <a:ext cx="2252101" cy="2252208"/>
          </a:xfrm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54DFB20-8AC4-58AC-499A-504A64E285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1572311" y="2541232"/>
            <a:ext cx="1778000" cy="996950"/>
          </a:xfrm>
        </p:spPr>
        <p:txBody>
          <a:bodyPr>
            <a:noAutofit/>
          </a:bodyPr>
          <a:lstStyle/>
          <a:p>
            <a:r>
              <a:rPr lang="en-US" sz="2000" b="1" i="0" dirty="0">
                <a:effectLst/>
                <a:latin typeface="+mj-lt"/>
              </a:rPr>
              <a:t>Kinova Gen3 robot Parts and its kinematics</a:t>
            </a:r>
            <a:endParaRPr lang="en-US" sz="2000" b="1" dirty="0">
              <a:latin typeface="+mj-lt"/>
            </a:endParaRP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8A733E13-2AC1-FDA0-D1A6-410D3B4FFE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69949" y="1679712"/>
            <a:ext cx="2252101" cy="2252208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812A0521-9D97-D048-D8FA-F5D6395693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white">
          <a:xfrm>
            <a:off x="5206999" y="2671445"/>
            <a:ext cx="1778000" cy="996950"/>
          </a:xfrm>
        </p:spPr>
        <p:txBody>
          <a:bodyPr>
            <a:noAutofit/>
          </a:bodyPr>
          <a:lstStyle/>
          <a:p>
            <a:pPr lvl="0"/>
            <a:r>
              <a:rPr lang="en-US" sz="2000" b="1" dirty="0"/>
              <a:t>Soft-Actor-Critic (SAC)</a:t>
            </a:r>
          </a:p>
          <a:p>
            <a:pPr lvl="0"/>
            <a:r>
              <a:rPr lang="en-US" sz="2000" b="1" dirty="0"/>
              <a:t>Learning</a:t>
            </a:r>
          </a:p>
          <a:p>
            <a:endParaRPr lang="en-US" sz="2000" b="1" dirty="0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A18E2FC3-E531-4F92-3700-99419B66A6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202674">
            <a:off x="8614539" y="1664021"/>
            <a:ext cx="2252101" cy="2252208"/>
          </a:xfrm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993E53EE-0BB9-DE57-7EC4-2F41A0EF60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white">
          <a:xfrm rot="202674">
            <a:off x="8823761" y="2735765"/>
            <a:ext cx="1778000" cy="996950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Environment Explanation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CFCFD87-FE58-4897-D984-E46E2DC2DE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rot="21388604">
            <a:off x="1501176" y="4228786"/>
            <a:ext cx="2252101" cy="2252208"/>
          </a:xfrm>
        </p:spPr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1A56C860-21F3-D1FF-A221-B4580EF919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white">
          <a:xfrm rot="21388604">
            <a:off x="1756857" y="5276134"/>
            <a:ext cx="1778000" cy="996950"/>
          </a:xfrm>
        </p:spPr>
        <p:txBody>
          <a:bodyPr>
            <a:noAutofit/>
          </a:bodyPr>
          <a:lstStyle/>
          <a:p>
            <a:pPr lvl="0"/>
            <a:r>
              <a:rPr lang="en-US" sz="2000" b="1" dirty="0"/>
              <a:t>Robot and RL model interaction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5041D5A2-29C2-E95E-A837-75DEA53103E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88258" y="4229203"/>
            <a:ext cx="2252101" cy="2252208"/>
          </a:xfrm>
        </p:spPr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ACE8E486-3643-9AD4-B07B-39A02CBBE8D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white">
          <a:xfrm>
            <a:off x="5248852" y="5169164"/>
            <a:ext cx="1778000" cy="996950"/>
          </a:xfrm>
        </p:spPr>
        <p:txBody>
          <a:bodyPr>
            <a:noAutofit/>
          </a:bodyPr>
          <a:lstStyle/>
          <a:p>
            <a:pPr lvl="0"/>
            <a:r>
              <a:rPr lang="en-US" sz="2000" b="1" dirty="0"/>
              <a:t>Reward function and Training Network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DE7378F-DDC5-E280-3208-7D5A28F2B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5417204" y="1502693"/>
            <a:ext cx="1441296" cy="46166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5379710-FBA6-9898-F44A-1352F6BE8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840669" y="1458281"/>
            <a:ext cx="1211232" cy="50625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2A7F9CB-CB61-28E7-AA16-03DCFEB4C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 rot="299600">
            <a:off x="9243538" y="1480396"/>
            <a:ext cx="1211232" cy="50625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10CE9DC-6B41-FE0C-7122-28180805A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 rot="21233692">
            <a:off x="2123717" y="4032325"/>
            <a:ext cx="879613" cy="46166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7E73402-A7BF-A3F1-1734-3A52890FE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5708484" y="4005293"/>
            <a:ext cx="828804" cy="506257"/>
          </a:xfrm>
          <a:prstGeom prst="rect">
            <a:avLst/>
          </a:prstGeom>
        </p:spPr>
      </p:pic>
      <p:sp>
        <p:nvSpPr>
          <p:cNvPr id="3" name="Text Placeholder 54">
            <a:extLst>
              <a:ext uri="{FF2B5EF4-FFF2-40B4-BE49-F238E27FC236}">
                <a16:creationId xmlns:a16="http://schemas.microsoft.com/office/drawing/2014/main" id="{8454138D-BD25-D7D9-4794-10340E0A1A93}"/>
              </a:ext>
            </a:extLst>
          </p:cNvPr>
          <p:cNvSpPr txBox="1">
            <a:spLocks/>
          </p:cNvSpPr>
          <p:nvPr/>
        </p:nvSpPr>
        <p:spPr>
          <a:xfrm>
            <a:off x="8568452" y="4185168"/>
            <a:ext cx="2252101" cy="2252208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vert="horz" lIns="91440" tIns="45720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24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24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30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08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68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5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59A29A9-BC02-0A33-6D9D-0BE6097BA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9288678" y="3961258"/>
            <a:ext cx="828804" cy="506257"/>
          </a:xfrm>
          <a:prstGeom prst="rect">
            <a:avLst/>
          </a:prstGeom>
        </p:spPr>
      </p:pic>
      <p:sp>
        <p:nvSpPr>
          <p:cNvPr id="10" name="Text Placeholder 66">
            <a:extLst>
              <a:ext uri="{FF2B5EF4-FFF2-40B4-BE49-F238E27FC236}">
                <a16:creationId xmlns:a16="http://schemas.microsoft.com/office/drawing/2014/main" id="{E130B37C-4098-E834-8B85-334097430508}"/>
              </a:ext>
            </a:extLst>
          </p:cNvPr>
          <p:cNvSpPr txBox="1">
            <a:spLocks/>
          </p:cNvSpPr>
          <p:nvPr/>
        </p:nvSpPr>
        <p:spPr bwMode="white">
          <a:xfrm>
            <a:off x="8795934" y="5188908"/>
            <a:ext cx="1778000" cy="9969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24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30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08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68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Show Results</a:t>
            </a:r>
          </a:p>
        </p:txBody>
      </p:sp>
    </p:spTree>
    <p:extLst>
      <p:ext uri="{BB962C8B-B14F-4D97-AF65-F5344CB8AC3E}">
        <p14:creationId xmlns:p14="http://schemas.microsoft.com/office/powerpoint/2010/main" val="3543850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381022-4B22-8C42-F771-5462B110C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7242" y="403478"/>
            <a:ext cx="4314145" cy="862423"/>
          </a:xfrm>
        </p:spPr>
        <p:txBody>
          <a:bodyPr anchor="ctr">
            <a:normAutofit/>
          </a:bodyPr>
          <a:lstStyle/>
          <a:p>
            <a:r>
              <a:rPr lang="en-US" b="1" i="0" dirty="0">
                <a:effectLst/>
              </a:rPr>
              <a:t>Kinova Gen3 robot Parts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3FEC1DE-09F2-6B25-7BD6-41A59FB85F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27242" y="1365282"/>
            <a:ext cx="4314143" cy="4478062"/>
          </a:xfrm>
        </p:spPr>
        <p:txBody>
          <a:bodyPr anchor="t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Kinova Gen3</a:t>
            </a:r>
            <a:r>
              <a:rPr lang="en-US" b="1" dirty="0"/>
              <a:t> has 7-DoF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7 Joint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6 Links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Only the final two joints are actuated and contribute to motion in the pitch and roll axes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For the ball </a:t>
            </a:r>
            <a:r>
              <a:rPr lang="en-US" dirty="0" err="1"/>
              <a:t>Ballincing</a:t>
            </a:r>
            <a:r>
              <a:rPr lang="en-US" dirty="0"/>
              <a:t> Task there is 22 observation elements</a:t>
            </a:r>
          </a:p>
        </p:txBody>
      </p:sp>
      <p:sp>
        <p:nvSpPr>
          <p:cNvPr id="61" name="Footer Placeholder 60">
            <a:extLst>
              <a:ext uri="{FF2B5EF4-FFF2-40B4-BE49-F238E27FC236}">
                <a16:creationId xmlns:a16="http://schemas.microsoft.com/office/drawing/2014/main" id="{C051E230-576F-23FD-43F5-BFD7FE81F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86234" y="5994209"/>
            <a:ext cx="336135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Architectural Drafting and Planning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7E6F308-F4EA-9567-C2CB-25ED32F3A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182" y="5994209"/>
            <a:ext cx="4745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1028" name="Picture 4" descr="Kinova Gen3 6-axis robot arm with gripper | Vention">
            <a:extLst>
              <a:ext uri="{FF2B5EF4-FFF2-40B4-BE49-F238E27FC236}">
                <a16:creationId xmlns:a16="http://schemas.microsoft.com/office/drawing/2014/main" id="{E965213A-877F-6DE5-C6B0-EE5D9DCE1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273" y="403478"/>
            <a:ext cx="5897338" cy="5897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726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99A48-A5C4-EFFD-853A-0B7EF0128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82" y="393646"/>
            <a:ext cx="3260519" cy="685646"/>
          </a:xfrm>
        </p:spPr>
        <p:txBody>
          <a:bodyPr/>
          <a:lstStyle/>
          <a:p>
            <a:r>
              <a:rPr lang="en-US" sz="2800" dirty="0"/>
              <a:t>Observations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186A4-F39C-A21D-70B2-861DAE5189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1356" y="5990069"/>
            <a:ext cx="3097071" cy="365125"/>
          </a:xfrm>
        </p:spPr>
        <p:txBody>
          <a:bodyPr/>
          <a:lstStyle/>
          <a:p>
            <a:r>
              <a:rPr lang="en-US" dirty="0"/>
              <a:t>Architectural Drafting and Planning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1E181C-31B4-9716-262F-DDD8025DE3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24749" y="5990069"/>
            <a:ext cx="7728153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2053" name="Table 2052">
            <a:extLst>
              <a:ext uri="{FF2B5EF4-FFF2-40B4-BE49-F238E27FC236}">
                <a16:creationId xmlns:a16="http://schemas.microsoft.com/office/drawing/2014/main" id="{A1B3F5A6-D778-0557-6975-872EB3D11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552612"/>
              </p:ext>
            </p:extLst>
          </p:nvPr>
        </p:nvGraphicFramePr>
        <p:xfrm>
          <a:off x="3821913" y="502806"/>
          <a:ext cx="7728154" cy="5208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864077">
                  <a:extLst>
                    <a:ext uri="{9D8B030D-6E8A-4147-A177-3AD203B41FA5}">
                      <a16:colId xmlns:a16="http://schemas.microsoft.com/office/drawing/2014/main" val="4280281128"/>
                    </a:ext>
                  </a:extLst>
                </a:gridCol>
                <a:gridCol w="3864077">
                  <a:extLst>
                    <a:ext uri="{9D8B030D-6E8A-4147-A177-3AD203B41FA5}">
                      <a16:colId xmlns:a16="http://schemas.microsoft.com/office/drawing/2014/main" val="1250308872"/>
                    </a:ext>
                  </a:extLst>
                </a:gridCol>
              </a:tblGrid>
              <a:tr h="408505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Observation Component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062768"/>
                  </a:ext>
                </a:extLst>
              </a:tr>
              <a:tr h="408505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Sine of joint angles (2 joints)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380471630"/>
                  </a:ext>
                </a:extLst>
              </a:tr>
              <a:tr h="408505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Cosine of joint angles (2 joints)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479519621"/>
                  </a:ext>
                </a:extLst>
              </a:tr>
              <a:tr h="408505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Joint angular velocities (2 joints)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657848131"/>
                  </a:ext>
                </a:extLst>
              </a:tr>
              <a:tr h="408505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Ball position (x, y)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4007216749"/>
                  </a:ext>
                </a:extLst>
              </a:tr>
              <a:tr h="408505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Ball velocity (dx, dy)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908572219"/>
                  </a:ext>
                </a:extLst>
              </a:tr>
              <a:tr h="408505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Plate orientation (quaternions)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4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181808078"/>
                  </a:ext>
                </a:extLst>
              </a:tr>
              <a:tr h="714885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Plate angular velocities (quaternion derivatives)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664647772"/>
                  </a:ext>
                </a:extLst>
              </a:tr>
              <a:tr h="408505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joint </a:t>
                      </a:r>
                      <a:r>
                        <a:rPr lang="en-US" dirty="0">
                          <a:effectLst/>
                        </a:rPr>
                        <a:t>torques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402195596"/>
                  </a:ext>
                </a:extLst>
              </a:tr>
              <a:tr h="408505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Ball radius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026608123"/>
                  </a:ext>
                </a:extLst>
              </a:tr>
              <a:tr h="408505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Ball mass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80524305"/>
                  </a:ext>
                </a:extLst>
              </a:tr>
              <a:tr h="408505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b="0">
                          <a:effectLst/>
                        </a:rPr>
                        <a:t>Total</a:t>
                      </a:r>
                      <a:endParaRPr lang="en-US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b="0" dirty="0">
                          <a:effectLst/>
                        </a:rPr>
                        <a:t>22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35326764"/>
                  </a:ext>
                </a:extLst>
              </a:tr>
            </a:tbl>
          </a:graphicData>
        </a:graphic>
      </p:graphicFrame>
      <p:pic>
        <p:nvPicPr>
          <p:cNvPr id="2103" name="Picture 55">
            <a:extLst>
              <a:ext uri="{FF2B5EF4-FFF2-40B4-BE49-F238E27FC236}">
                <a16:creationId xmlns:a16="http://schemas.microsoft.com/office/drawing/2014/main" id="{285576CD-72C6-7D35-7465-CFC274312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216" y="2246274"/>
            <a:ext cx="2890211" cy="2365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919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Title 1">
            <a:extLst>
              <a:ext uri="{FF2B5EF4-FFF2-40B4-BE49-F238E27FC236}">
                <a16:creationId xmlns:a16="http://schemas.microsoft.com/office/drawing/2014/main" id="{779030B2-50B5-07B5-B940-67669084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7242" y="403478"/>
            <a:ext cx="4314145" cy="862423"/>
          </a:xfrm>
        </p:spPr>
        <p:txBody>
          <a:bodyPr/>
          <a:lstStyle/>
          <a:p>
            <a:r>
              <a:rPr lang="en-US" dirty="0"/>
              <a:t>System overview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86FC054-B11D-0B00-2107-704F30165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82"/>
          <a:stretch>
            <a:fillRect/>
          </a:stretch>
        </p:blipFill>
        <p:spPr bwMode="auto">
          <a:xfrm>
            <a:off x="491526" y="413311"/>
            <a:ext cx="6756966" cy="6098325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</p:pic>
      <p:sp>
        <p:nvSpPr>
          <p:cNvPr id="3081" name="Text Placeholder 3">
            <a:extLst>
              <a:ext uri="{FF2B5EF4-FFF2-40B4-BE49-F238E27FC236}">
                <a16:creationId xmlns:a16="http://schemas.microsoft.com/office/drawing/2014/main" id="{E9578C12-6473-0FA1-2179-5C8223F3C0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27242" y="1176787"/>
            <a:ext cx="4314143" cy="4478062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10000"/>
              </a:lnSpc>
            </a:pPr>
            <a:r>
              <a:rPr lang="en-US" sz="2000" b="1" u="sng" dirty="0"/>
              <a:t>Kinova ball Balance</a:t>
            </a: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Input: Action</a:t>
            </a: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output: Observations, Reward, isDone Signal</a:t>
            </a:r>
          </a:p>
          <a:p>
            <a:pPr algn="l">
              <a:lnSpc>
                <a:spcPct val="110000"/>
              </a:lnSpc>
            </a:pPr>
            <a:endParaRPr lang="en-US" sz="2000" dirty="0"/>
          </a:p>
          <a:p>
            <a:pPr algn="l">
              <a:lnSpc>
                <a:spcPct val="110000"/>
              </a:lnSpc>
            </a:pPr>
            <a:r>
              <a:rPr lang="en-US" sz="2000" b="1" u="sng" dirty="0"/>
              <a:t>RL Agent:</a:t>
            </a: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Input: Observations, Reward, isDone Signal</a:t>
            </a: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Output: Action</a:t>
            </a:r>
          </a:p>
        </p:txBody>
      </p:sp>
      <p:sp>
        <p:nvSpPr>
          <p:cNvPr id="3083" name="Footer Placeholder 4">
            <a:extLst>
              <a:ext uri="{FF2B5EF4-FFF2-40B4-BE49-F238E27FC236}">
                <a16:creationId xmlns:a16="http://schemas.microsoft.com/office/drawing/2014/main" id="{31DE2BAF-3D08-755C-12A9-C411A6F56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86234" y="5994209"/>
            <a:ext cx="336135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footer</a:t>
            </a:r>
          </a:p>
        </p:txBody>
      </p:sp>
      <p:sp>
        <p:nvSpPr>
          <p:cNvPr id="3085" name="Slide Number Placeholder 5">
            <a:extLst>
              <a:ext uri="{FF2B5EF4-FFF2-40B4-BE49-F238E27FC236}">
                <a16:creationId xmlns:a16="http://schemas.microsoft.com/office/drawing/2014/main" id="{C0D8E16F-F809-891F-77D0-7363E2817B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182" y="5994209"/>
            <a:ext cx="47454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99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A672E-B626-E706-75EF-85D5FB37A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65B7B13C-8B0E-541E-E67E-5602C7AB0E77}"/>
              </a:ext>
            </a:extLst>
          </p:cNvPr>
          <p:cNvGrpSpPr/>
          <p:nvPr/>
        </p:nvGrpSpPr>
        <p:grpSpPr>
          <a:xfrm>
            <a:off x="0" y="104931"/>
            <a:ext cx="12192000" cy="6753069"/>
            <a:chOff x="0" y="104931"/>
            <a:chExt cx="12192000" cy="675306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4F6C34E-B671-6CB1-22C3-1AD0DC205427}"/>
                </a:ext>
              </a:extLst>
            </p:cNvPr>
            <p:cNvSpPr/>
            <p:nvPr/>
          </p:nvSpPr>
          <p:spPr>
            <a:xfrm>
              <a:off x="0" y="104931"/>
              <a:ext cx="12192000" cy="6753069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D100755-91F0-AB13-3C53-78217A512799}"/>
                </a:ext>
              </a:extLst>
            </p:cNvPr>
            <p:cNvGrpSpPr/>
            <p:nvPr/>
          </p:nvGrpSpPr>
          <p:grpSpPr>
            <a:xfrm>
              <a:off x="43722" y="300037"/>
              <a:ext cx="12104556" cy="6257925"/>
              <a:chOff x="87443" y="371240"/>
              <a:chExt cx="12104556" cy="6257925"/>
            </a:xfrm>
          </p:grpSpPr>
          <p:pic>
            <p:nvPicPr>
              <p:cNvPr id="4" name="Picture 3" descr="A diagram of a machine&#10;&#10;AI-generated content may be incorrect.">
                <a:extLst>
                  <a:ext uri="{FF2B5EF4-FFF2-40B4-BE49-F238E27FC236}">
                    <a16:creationId xmlns:a16="http://schemas.microsoft.com/office/drawing/2014/main" id="{979E059B-BE21-C866-CDED-494B11A42E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443" y="371240"/>
                <a:ext cx="12104556" cy="6257925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98AD4E9-C7AD-C67D-EBA0-05BB8243B53E}"/>
                  </a:ext>
                </a:extLst>
              </p:cNvPr>
              <p:cNvSpPr/>
              <p:nvPr/>
            </p:nvSpPr>
            <p:spPr>
              <a:xfrm>
                <a:off x="3425146" y="839449"/>
                <a:ext cx="1385975" cy="3606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385DD1-5018-98BE-1B2A-080732948A6D}"/>
                </a:ext>
              </a:extLst>
            </p:cNvPr>
            <p:cNvSpPr txBox="1"/>
            <p:nvPr/>
          </p:nvSpPr>
          <p:spPr>
            <a:xfrm>
              <a:off x="281067" y="5844336"/>
              <a:ext cx="48605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u="sng" dirty="0">
                  <a:solidFill>
                    <a:srgbClr val="002060"/>
                  </a:solidFill>
                </a:rPr>
                <a:t>Current Award Function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BADF11D-90D7-A1EE-11FE-EC446B72A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798" y="490444"/>
              <a:ext cx="3155949" cy="1900331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334AA5E-85D3-76A3-F858-2A9B307BD67B}"/>
                </a:ext>
              </a:extLst>
            </p:cNvPr>
            <p:cNvSpPr/>
            <p:nvPr/>
          </p:nvSpPr>
          <p:spPr>
            <a:xfrm>
              <a:off x="2924175" y="917735"/>
              <a:ext cx="1619250" cy="3612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4911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7FA2E-06B6-4AF4-7E88-7DDEB250D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F193EFB-8D4A-BA39-7C7E-B7232BE2EAB1}"/>
              </a:ext>
            </a:extLst>
          </p:cNvPr>
          <p:cNvGrpSpPr/>
          <p:nvPr/>
        </p:nvGrpSpPr>
        <p:grpSpPr>
          <a:xfrm>
            <a:off x="0" y="104931"/>
            <a:ext cx="12192000" cy="6753069"/>
            <a:chOff x="0" y="104931"/>
            <a:chExt cx="12192000" cy="675306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940F9F9-68C3-A509-79E9-0A1A3410DDCE}"/>
                </a:ext>
              </a:extLst>
            </p:cNvPr>
            <p:cNvSpPr/>
            <p:nvPr/>
          </p:nvSpPr>
          <p:spPr>
            <a:xfrm>
              <a:off x="0" y="104931"/>
              <a:ext cx="12192000" cy="6753069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B0A5306-F4B5-6338-3573-CDB09D89B73E}"/>
                </a:ext>
              </a:extLst>
            </p:cNvPr>
            <p:cNvSpPr txBox="1"/>
            <p:nvPr/>
          </p:nvSpPr>
          <p:spPr>
            <a:xfrm>
              <a:off x="281067" y="5844336"/>
              <a:ext cx="48605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u="sng" dirty="0">
                  <a:solidFill>
                    <a:srgbClr val="002060"/>
                  </a:solidFill>
                </a:rPr>
                <a:t>New Award Function</a:t>
              </a:r>
            </a:p>
          </p:txBody>
        </p:sp>
        <p:pic>
          <p:nvPicPr>
            <p:cNvPr id="5" name="Picture 4" descr="A diagram of a diagram&#10;&#10;AI-generated content may be incorrect.">
              <a:extLst>
                <a:ext uri="{FF2B5EF4-FFF2-40B4-BE49-F238E27FC236}">
                  <a16:creationId xmlns:a16="http://schemas.microsoft.com/office/drawing/2014/main" id="{24051CB7-2FE3-63AD-2A22-4DD80472CE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99803"/>
              <a:ext cx="12192000" cy="632584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45F6F8-0BDA-ED50-7369-66BE5070146B}"/>
                </a:ext>
              </a:extLst>
            </p:cNvPr>
            <p:cNvSpPr txBox="1"/>
            <p:nvPr/>
          </p:nvSpPr>
          <p:spPr>
            <a:xfrm>
              <a:off x="281067" y="5711774"/>
              <a:ext cx="48605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u="sng" dirty="0">
                  <a:solidFill>
                    <a:srgbClr val="002060"/>
                  </a:solidFill>
                </a:rPr>
                <a:t>New Award Function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9A63D1E-3091-3D9B-D88E-5BFC0AC319E7}"/>
                </a:ext>
              </a:extLst>
            </p:cNvPr>
            <p:cNvGrpSpPr/>
            <p:nvPr/>
          </p:nvGrpSpPr>
          <p:grpSpPr>
            <a:xfrm>
              <a:off x="0" y="299802"/>
              <a:ext cx="3552825" cy="2386247"/>
              <a:chOff x="1550797" y="2031153"/>
              <a:chExt cx="2970276" cy="1980184"/>
            </a:xfrm>
          </p:grpSpPr>
          <p:pic>
            <p:nvPicPr>
              <p:cNvPr id="12" name="Picture 4" descr="Edited image with updated reward function formulas">
                <a:extLst>
                  <a:ext uri="{FF2B5EF4-FFF2-40B4-BE49-F238E27FC236}">
                    <a16:creationId xmlns:a16="http://schemas.microsoft.com/office/drawing/2014/main" id="{422A8BD9-08C0-08B7-4E5A-9634464B99F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50797" y="2031153"/>
                <a:ext cx="2970276" cy="19801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189C72-91F2-C122-5929-A1D8DF3135FD}"/>
                  </a:ext>
                </a:extLst>
              </p:cNvPr>
              <p:cNvSpPr txBox="1"/>
              <p:nvPr/>
            </p:nvSpPr>
            <p:spPr>
              <a:xfrm>
                <a:off x="3307622" y="2686049"/>
                <a:ext cx="2452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)</a:t>
                </a:r>
                <a:endParaRPr 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9BB1AA6-6A2D-4017-B8BA-C17DEBD9AA58}"/>
                  </a:ext>
                </a:extLst>
              </p:cNvPr>
              <p:cNvSpPr txBox="1"/>
              <p:nvPr/>
            </p:nvSpPr>
            <p:spPr>
              <a:xfrm>
                <a:off x="3552825" y="2963048"/>
                <a:ext cx="19440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/>
                  <a:t>2</a:t>
                </a:r>
                <a:endParaRPr lang="en-US" sz="1100" dirty="0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526F99-8B1E-9EBA-516E-F4E485AD8E40}"/>
                </a:ext>
              </a:extLst>
            </p:cNvPr>
            <p:cNvSpPr/>
            <p:nvPr/>
          </p:nvSpPr>
          <p:spPr>
            <a:xfrm>
              <a:off x="3522377" y="490444"/>
              <a:ext cx="1619250" cy="3612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5565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3CE6ED71-6FC5-9647-D3EA-18E893B6D859}"/>
              </a:ext>
            </a:extLst>
          </p:cNvPr>
          <p:cNvSpPr txBox="1">
            <a:spLocks/>
          </p:cNvSpPr>
          <p:nvPr/>
        </p:nvSpPr>
        <p:spPr>
          <a:xfrm>
            <a:off x="2104324" y="3971069"/>
            <a:ext cx="7983351" cy="1889404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>
            <a:lvl1pPr algn="ctr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600" b="1" dirty="0"/>
              <a:t>Network used </a:t>
            </a:r>
            <a:endParaRPr lang="en-US" sz="6600" dirty="0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3DCFC6C-2269-034F-0A76-52BED424B504}"/>
              </a:ext>
            </a:extLst>
          </p:cNvPr>
          <p:cNvSpPr txBox="1">
            <a:spLocks/>
          </p:cNvSpPr>
          <p:nvPr/>
        </p:nvSpPr>
        <p:spPr>
          <a:xfrm>
            <a:off x="1903297" y="900544"/>
            <a:ext cx="2488593" cy="2770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794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5394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Actor Network</a:t>
            </a:r>
          </a:p>
        </p:txBody>
      </p:sp>
      <p:sp>
        <p:nvSpPr>
          <p:cNvPr id="7" name="Text Placeholder 47">
            <a:extLst>
              <a:ext uri="{FF2B5EF4-FFF2-40B4-BE49-F238E27FC236}">
                <a16:creationId xmlns:a16="http://schemas.microsoft.com/office/drawing/2014/main" id="{755D54A3-9FE5-5951-96F1-294F071FDAD2}"/>
              </a:ext>
            </a:extLst>
          </p:cNvPr>
          <p:cNvSpPr txBox="1">
            <a:spLocks/>
          </p:cNvSpPr>
          <p:nvPr/>
        </p:nvSpPr>
        <p:spPr>
          <a:xfrm>
            <a:off x="7916170" y="900544"/>
            <a:ext cx="2488593" cy="277090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794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5394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Critic Network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E34E914-A642-432E-A4EF-D9987B176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8421578" y="699434"/>
            <a:ext cx="1490188" cy="622852"/>
          </a:xfrm>
          <a:prstGeom prst="rect">
            <a:avLst/>
          </a:prstGeom>
        </p:spPr>
      </p:pic>
      <p:sp>
        <p:nvSpPr>
          <p:cNvPr id="13" name="Text Placeholder 47">
            <a:extLst>
              <a:ext uri="{FF2B5EF4-FFF2-40B4-BE49-F238E27FC236}">
                <a16:creationId xmlns:a16="http://schemas.microsoft.com/office/drawing/2014/main" id="{249BDE79-90E2-A85D-12D6-4BAAA5E248DE}"/>
              </a:ext>
            </a:extLst>
          </p:cNvPr>
          <p:cNvSpPr txBox="1">
            <a:spLocks/>
          </p:cNvSpPr>
          <p:nvPr/>
        </p:nvSpPr>
        <p:spPr>
          <a:xfrm>
            <a:off x="1921938" y="900544"/>
            <a:ext cx="2488593" cy="277090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794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5394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Actor Network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1851E5E-4321-FBCD-8BE3-90535BEC7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2408705" y="699434"/>
            <a:ext cx="1490188" cy="62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02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951B-0142-6989-9FA0-F698A7B2D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CA41A-00F6-4EE6-7032-615C65FC1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D6D4C1-4F5B-0A32-8219-E419148F0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D3A14-A325-5FB7-A55E-72960C4911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00B5B-0C21-565D-2160-9E1F81FF5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4E9DBC62-E2F7-83A8-9FB1-968356970D1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18803" r="18803"/>
          <a:stretch/>
        </p:blipFill>
        <p:spPr>
          <a:xfrm>
            <a:off x="0" y="0"/>
            <a:ext cx="12192000" cy="6662057"/>
          </a:xfrm>
        </p:spPr>
      </p:pic>
      <p:sp>
        <p:nvSpPr>
          <p:cNvPr id="12" name="Title 12">
            <a:extLst>
              <a:ext uri="{FF2B5EF4-FFF2-40B4-BE49-F238E27FC236}">
                <a16:creationId xmlns:a16="http://schemas.microsoft.com/office/drawing/2014/main" id="{95460324-41D7-AEBB-2A08-99A2C1EEA0A7}"/>
              </a:ext>
            </a:extLst>
          </p:cNvPr>
          <p:cNvSpPr txBox="1">
            <a:spLocks/>
          </p:cNvSpPr>
          <p:nvPr/>
        </p:nvSpPr>
        <p:spPr>
          <a:xfrm>
            <a:off x="-321787" y="-27734"/>
            <a:ext cx="4314145" cy="862423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>
            <a:lvl1pPr algn="ctr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1) </a:t>
            </a:r>
            <a:r>
              <a:rPr lang="en-US" sz="2800" dirty="0"/>
              <a:t>Critic Network</a:t>
            </a:r>
          </a:p>
        </p:txBody>
      </p:sp>
      <p:sp>
        <p:nvSpPr>
          <p:cNvPr id="14" name="Footer Placeholder 60">
            <a:extLst>
              <a:ext uri="{FF2B5EF4-FFF2-40B4-BE49-F238E27FC236}">
                <a16:creationId xmlns:a16="http://schemas.microsoft.com/office/drawing/2014/main" id="{BCA14C94-FC0A-537D-7A1F-8AA3F0D69B01}"/>
              </a:ext>
            </a:extLst>
          </p:cNvPr>
          <p:cNvSpPr txBox="1">
            <a:spLocks/>
          </p:cNvSpPr>
          <p:nvPr/>
        </p:nvSpPr>
        <p:spPr>
          <a:xfrm>
            <a:off x="1073286" y="1908438"/>
            <a:ext cx="3251971" cy="862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900" kern="1200" cap="all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20" name="Text Placeholder 65">
            <a:extLst>
              <a:ext uri="{FF2B5EF4-FFF2-40B4-BE49-F238E27FC236}">
                <a16:creationId xmlns:a16="http://schemas.microsoft.com/office/drawing/2014/main" id="{0B4E9924-FDBE-91F2-9B0C-BBC095CF6938}"/>
              </a:ext>
            </a:extLst>
          </p:cNvPr>
          <p:cNvSpPr txBox="1">
            <a:spLocks/>
          </p:cNvSpPr>
          <p:nvPr/>
        </p:nvSpPr>
        <p:spPr bwMode="white">
          <a:xfrm>
            <a:off x="7858677" y="901992"/>
            <a:ext cx="4128913" cy="543986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794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5394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u="sng" dirty="0">
                <a:latin typeface="fkGroteskNeue"/>
              </a:rPr>
              <a:t>Input layer:</a:t>
            </a:r>
          </a:p>
          <a:p>
            <a:pPr marL="0" indent="0">
              <a:buNone/>
            </a:pPr>
            <a:r>
              <a:rPr lang="en-US" sz="2000" b="0" i="0" dirty="0">
                <a:effectLst/>
                <a:latin typeface="fkGroteskNeue"/>
              </a:rPr>
              <a:t>vector of 22 observations</a:t>
            </a:r>
          </a:p>
          <a:p>
            <a:pPr marL="0" indent="0">
              <a:buNone/>
            </a:pPr>
            <a:r>
              <a:rPr lang="en-US" sz="2000" b="0" i="0" dirty="0">
                <a:effectLst/>
                <a:latin typeface="fkGroteskNeue"/>
              </a:rPr>
              <a:t>layer accepting action values</a:t>
            </a:r>
            <a:endParaRPr lang="en-US" sz="2000" dirty="0">
              <a:latin typeface="fkGroteskNeue"/>
            </a:endParaRPr>
          </a:p>
          <a:p>
            <a:pPr marL="0" indent="0">
              <a:buNone/>
            </a:pPr>
            <a:endParaRPr lang="en-US" sz="2000" b="0" i="0" dirty="0">
              <a:effectLst/>
              <a:latin typeface="fkGroteskNeue"/>
            </a:endParaRPr>
          </a:p>
          <a:p>
            <a:pPr marL="0" indent="0">
              <a:buNone/>
            </a:pPr>
            <a:r>
              <a:rPr lang="en-US" sz="2000" b="0" i="0" dirty="0">
                <a:effectLst/>
                <a:latin typeface="fkGroteskNeue"/>
              </a:rPr>
              <a:t>Three fully connected (dense) layers, typically with 128, 64 and 32 units.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fkGroteskNeue"/>
              </a:rPr>
              <a:t>Each layer is followed by a ReLU activation function.</a:t>
            </a:r>
          </a:p>
          <a:p>
            <a:pPr marL="0" indent="0">
              <a:buNone/>
            </a:pPr>
            <a:endParaRPr lang="en-US" sz="2000" dirty="0">
              <a:latin typeface="fkGroteskNeue"/>
            </a:endParaRPr>
          </a:p>
          <a:p>
            <a:pPr marL="0" indent="0">
              <a:buNone/>
            </a:pPr>
            <a:r>
              <a:rPr lang="en-US" sz="2000" b="1" u="sng" dirty="0">
                <a:latin typeface="fkGroteskNeue"/>
              </a:rPr>
              <a:t>Output: </a:t>
            </a:r>
          </a:p>
          <a:p>
            <a:pPr marL="0" indent="0">
              <a:buNone/>
            </a:pPr>
            <a:r>
              <a:rPr lang="en-US" sz="2000" b="0" i="0" dirty="0">
                <a:effectLst/>
                <a:latin typeface="fkGroteskNeue"/>
              </a:rPr>
              <a:t>Single scalar output representing the Q-value </a:t>
            </a:r>
            <a:endParaRPr lang="en-US" sz="2000" dirty="0">
              <a:latin typeface="fkGroteskNeue"/>
            </a:endParaRP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DB0996E0-CF22-0B20-737C-231884DD0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15" y="901992"/>
            <a:ext cx="7559752" cy="579842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62EBB5D-B279-8DA6-CC84-811CED37B820}"/>
              </a:ext>
            </a:extLst>
          </p:cNvPr>
          <p:cNvCxnSpPr>
            <a:cxnSpLocks/>
          </p:cNvCxnSpPr>
          <p:nvPr/>
        </p:nvCxnSpPr>
        <p:spPr>
          <a:xfrm>
            <a:off x="1606387" y="4922635"/>
            <a:ext cx="2412940" cy="7560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2F438F6-2624-8404-094B-064787249D6C}"/>
              </a:ext>
            </a:extLst>
          </p:cNvPr>
          <p:cNvSpPr/>
          <p:nvPr/>
        </p:nvSpPr>
        <p:spPr>
          <a:xfrm>
            <a:off x="240624" y="4087140"/>
            <a:ext cx="2632364" cy="862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16 units FC Layer Followed by ReLU</a:t>
            </a:r>
          </a:p>
        </p:txBody>
      </p:sp>
    </p:spTree>
    <p:extLst>
      <p:ext uri="{BB962C8B-B14F-4D97-AF65-F5344CB8AC3E}">
        <p14:creationId xmlns:p14="http://schemas.microsoft.com/office/powerpoint/2010/main" val="23354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86405-7071-0146-D6D9-E4AB02DC3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7404-50E2-A1F0-0951-3D330BB37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6C2F3-FEAB-D971-7C37-D8D413C019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82635-9A55-7D1D-AC5B-DA3BC9EF9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9DFDD-8780-E147-70E5-DB7B1DA52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CAF71D1-1C5C-E80B-92FB-B60D0C0B865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18803" r="18803"/>
          <a:stretch/>
        </p:blipFill>
        <p:spPr>
          <a:xfrm>
            <a:off x="0" y="0"/>
            <a:ext cx="12192000" cy="6662057"/>
          </a:xfrm>
        </p:spPr>
      </p:pic>
      <p:sp>
        <p:nvSpPr>
          <p:cNvPr id="12" name="Title 12">
            <a:extLst>
              <a:ext uri="{FF2B5EF4-FFF2-40B4-BE49-F238E27FC236}">
                <a16:creationId xmlns:a16="http://schemas.microsoft.com/office/drawing/2014/main" id="{4536B953-48E0-D262-6EAC-57F005BFA457}"/>
              </a:ext>
            </a:extLst>
          </p:cNvPr>
          <p:cNvSpPr txBox="1">
            <a:spLocks/>
          </p:cNvSpPr>
          <p:nvPr/>
        </p:nvSpPr>
        <p:spPr>
          <a:xfrm>
            <a:off x="-155532" y="-50511"/>
            <a:ext cx="4314145" cy="862423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>
            <a:lvl1pPr algn="ctr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2) </a:t>
            </a:r>
            <a:r>
              <a:rPr lang="en-US" sz="2800" dirty="0"/>
              <a:t>Actor Network</a:t>
            </a:r>
          </a:p>
        </p:txBody>
      </p:sp>
      <p:sp>
        <p:nvSpPr>
          <p:cNvPr id="14" name="Footer Placeholder 60">
            <a:extLst>
              <a:ext uri="{FF2B5EF4-FFF2-40B4-BE49-F238E27FC236}">
                <a16:creationId xmlns:a16="http://schemas.microsoft.com/office/drawing/2014/main" id="{987676A4-903A-0182-3EDA-856F1A8A3983}"/>
              </a:ext>
            </a:extLst>
          </p:cNvPr>
          <p:cNvSpPr txBox="1">
            <a:spLocks/>
          </p:cNvSpPr>
          <p:nvPr/>
        </p:nvSpPr>
        <p:spPr>
          <a:xfrm>
            <a:off x="1073286" y="1908438"/>
            <a:ext cx="3251971" cy="862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900" kern="1200" cap="all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endParaRPr lang="en-US" dirty="0"/>
          </a:p>
        </p:txBody>
      </p:sp>
      <p:pic>
        <p:nvPicPr>
          <p:cNvPr id="16" name="Picture 15" descr="A diagram of a structure&#10;&#10;AI-generated content may be incorrect.">
            <a:extLst>
              <a:ext uri="{FF2B5EF4-FFF2-40B4-BE49-F238E27FC236}">
                <a16:creationId xmlns:a16="http://schemas.microsoft.com/office/drawing/2014/main" id="{4A8670FF-B4A7-455C-F94B-D45348EA3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35" y="834689"/>
            <a:ext cx="6926840" cy="5698558"/>
          </a:xfrm>
          <a:prstGeom prst="rect">
            <a:avLst/>
          </a:prstGeom>
        </p:spPr>
      </p:pic>
      <p:sp>
        <p:nvSpPr>
          <p:cNvPr id="20" name="Text Placeholder 65">
            <a:extLst>
              <a:ext uri="{FF2B5EF4-FFF2-40B4-BE49-F238E27FC236}">
                <a16:creationId xmlns:a16="http://schemas.microsoft.com/office/drawing/2014/main" id="{C0593785-27F2-DEB2-70A1-41261F0721CA}"/>
              </a:ext>
            </a:extLst>
          </p:cNvPr>
          <p:cNvSpPr txBox="1">
            <a:spLocks/>
          </p:cNvSpPr>
          <p:nvPr/>
        </p:nvSpPr>
        <p:spPr bwMode="white">
          <a:xfrm>
            <a:off x="7683177" y="656096"/>
            <a:ext cx="4128913" cy="579842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794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5394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u="sng" dirty="0">
                <a:latin typeface="fkGroteskNeue"/>
              </a:rPr>
              <a:t>Input layer:</a:t>
            </a:r>
          </a:p>
          <a:p>
            <a:pPr marL="0" indent="0">
              <a:buNone/>
            </a:pPr>
            <a:r>
              <a:rPr lang="en-US" sz="2000" b="0" i="0" dirty="0">
                <a:effectLst/>
                <a:latin typeface="fkGroteskNeue"/>
              </a:rPr>
              <a:t>vector of observations</a:t>
            </a:r>
            <a:br>
              <a:rPr lang="en-US" sz="2000" dirty="0">
                <a:latin typeface="fkGroteskNeue"/>
              </a:rPr>
            </a:br>
            <a:endParaRPr lang="en-US" sz="2000" dirty="0"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fkGroteskNeue"/>
              </a:rPr>
              <a:t>Two fully connected (dense) layers, typically with 128 and 64 units.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fkGroteskNeue"/>
              </a:rPr>
              <a:t>Each layer is followed by a ReLU activation function.</a:t>
            </a:r>
          </a:p>
          <a:p>
            <a:pPr marL="0" indent="0">
              <a:buNone/>
            </a:pPr>
            <a:r>
              <a:rPr lang="en-US" sz="2000" b="1" u="sng" dirty="0">
                <a:latin typeface="fkGroteskNeue"/>
              </a:rPr>
              <a:t>Branching Structure:</a:t>
            </a:r>
          </a:p>
          <a:p>
            <a:r>
              <a:rPr lang="en-US" sz="2000" dirty="0">
                <a:latin typeface="fkGroteskNeue"/>
              </a:rPr>
              <a:t>Mean Branch: 32 unit </a:t>
            </a:r>
            <a:r>
              <a:rPr lang="en-US" sz="2000" dirty="0" err="1">
                <a:latin typeface="fkGroteskNeue"/>
              </a:rPr>
              <a:t>follwoed</a:t>
            </a:r>
            <a:r>
              <a:rPr lang="en-US" sz="2000" dirty="0">
                <a:latin typeface="fkGroteskNeue"/>
              </a:rPr>
              <a:t> by ReLU</a:t>
            </a:r>
          </a:p>
          <a:p>
            <a:r>
              <a:rPr lang="en-US" sz="2000" dirty="0">
                <a:latin typeface="fkGroteskNeue"/>
              </a:rPr>
              <a:t>Standard </a:t>
            </a:r>
            <a:r>
              <a:rPr lang="en-US" sz="2000" dirty="0" err="1">
                <a:latin typeface="fkGroteskNeue"/>
              </a:rPr>
              <a:t>DevaitionBranch</a:t>
            </a:r>
            <a:r>
              <a:rPr lang="en-US" sz="2000" dirty="0">
                <a:latin typeface="fkGroteskNeue"/>
              </a:rPr>
              <a:t>: </a:t>
            </a:r>
            <a:r>
              <a:rPr lang="en-US" sz="2000" b="0" i="0" dirty="0">
                <a:effectLst/>
                <a:latin typeface="fkGroteskNeue"/>
              </a:rPr>
              <a:t>number of actions, ReLU</a:t>
            </a:r>
          </a:p>
          <a:p>
            <a:pPr marL="0" indent="0">
              <a:buNone/>
            </a:pPr>
            <a:endParaRPr lang="en-US" sz="2000" dirty="0">
              <a:latin typeface="fkGroteskNeue"/>
            </a:endParaRPr>
          </a:p>
          <a:p>
            <a:pPr marL="0" indent="0">
              <a:buNone/>
            </a:pPr>
            <a:r>
              <a:rPr lang="en-US" sz="2000" b="1" u="sng" dirty="0">
                <a:latin typeface="fkGroteskNeue"/>
              </a:rPr>
              <a:t>Output: </a:t>
            </a:r>
            <a:r>
              <a:rPr lang="en-US" sz="2000" b="0" i="0" dirty="0">
                <a:effectLst/>
                <a:latin typeface="fkGroteskNeue"/>
              </a:rPr>
              <a:t>The network outputs both the mean and standard deviation for each action dimension</a:t>
            </a:r>
            <a:endParaRPr lang="en-US" sz="2000" dirty="0">
              <a:latin typeface="fkGroteskNeue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0F1CA9C-C2A7-4E48-9FA8-E6FA7BA7BD2A}"/>
              </a:ext>
            </a:extLst>
          </p:cNvPr>
          <p:cNvCxnSpPr>
            <a:cxnSpLocks/>
          </p:cNvCxnSpPr>
          <p:nvPr/>
        </p:nvCxnSpPr>
        <p:spPr>
          <a:xfrm>
            <a:off x="1745673" y="3331028"/>
            <a:ext cx="2412940" cy="7560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3AB32AE-043E-7D49-024B-1482F896F258}"/>
              </a:ext>
            </a:extLst>
          </p:cNvPr>
          <p:cNvSpPr/>
          <p:nvPr/>
        </p:nvSpPr>
        <p:spPr>
          <a:xfrm>
            <a:off x="379910" y="2495533"/>
            <a:ext cx="2632364" cy="862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32 units FC Layer Followed by ReLU</a:t>
            </a:r>
          </a:p>
        </p:txBody>
      </p:sp>
    </p:spTree>
    <p:extLst>
      <p:ext uri="{BB962C8B-B14F-4D97-AF65-F5344CB8AC3E}">
        <p14:creationId xmlns:p14="http://schemas.microsoft.com/office/powerpoint/2010/main" val="1464751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18C63-0B7C-F6E3-6CC4-12A310787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62F03-8893-8F93-EB38-67C374D6A4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B581A-694A-B729-7ADF-BC75191886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5C9B9-0BEE-C4CA-2006-5800D2DE0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8624AE63-C585-8928-823E-AE866766DED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18803" r="18803"/>
          <a:stretch/>
        </p:blipFill>
        <p:spPr>
          <a:xfrm>
            <a:off x="0" y="0"/>
            <a:ext cx="12192000" cy="6662057"/>
          </a:xfrm>
        </p:spPr>
      </p:pic>
      <p:sp>
        <p:nvSpPr>
          <p:cNvPr id="12" name="Title 12">
            <a:extLst>
              <a:ext uri="{FF2B5EF4-FFF2-40B4-BE49-F238E27FC236}">
                <a16:creationId xmlns:a16="http://schemas.microsoft.com/office/drawing/2014/main" id="{08F5F4A7-F55C-46F6-6AB8-E54750583409}"/>
              </a:ext>
            </a:extLst>
          </p:cNvPr>
          <p:cNvSpPr txBox="1">
            <a:spLocks/>
          </p:cNvSpPr>
          <p:nvPr/>
        </p:nvSpPr>
        <p:spPr>
          <a:xfrm>
            <a:off x="-1083787" y="-45440"/>
            <a:ext cx="4314145" cy="862423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>
            <a:lvl1pPr algn="ctr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Results</a:t>
            </a:r>
            <a:endParaRPr lang="en-US" dirty="0"/>
          </a:p>
        </p:txBody>
      </p:sp>
      <p:sp>
        <p:nvSpPr>
          <p:cNvPr id="14" name="Footer Placeholder 60">
            <a:extLst>
              <a:ext uri="{FF2B5EF4-FFF2-40B4-BE49-F238E27FC236}">
                <a16:creationId xmlns:a16="http://schemas.microsoft.com/office/drawing/2014/main" id="{C457D99F-633C-AC8C-AFDF-5CB045AB20C1}"/>
              </a:ext>
            </a:extLst>
          </p:cNvPr>
          <p:cNvSpPr txBox="1">
            <a:spLocks/>
          </p:cNvSpPr>
          <p:nvPr/>
        </p:nvSpPr>
        <p:spPr>
          <a:xfrm>
            <a:off x="1073286" y="1908438"/>
            <a:ext cx="3251971" cy="862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900" kern="1200" cap="all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3A35CFE-EB57-B7D8-9002-F2F0759E18C1}"/>
              </a:ext>
            </a:extLst>
          </p:cNvPr>
          <p:cNvSpPr txBox="1">
            <a:spLocks/>
          </p:cNvSpPr>
          <p:nvPr/>
        </p:nvSpPr>
        <p:spPr>
          <a:xfrm>
            <a:off x="2906661" y="-668834"/>
            <a:ext cx="7962014" cy="1472261"/>
          </a:xfrm>
          <a:prstGeom prst="rect">
            <a:avLst/>
          </a:prstGeom>
        </p:spPr>
        <p:txBody>
          <a:bodyPr vert="horz" lIns="457200" tIns="822960" rIns="45720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24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30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08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68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/>
              <a:t>Old Award Function + Old Network</a:t>
            </a:r>
          </a:p>
        </p:txBody>
      </p:sp>
      <p:pic>
        <p:nvPicPr>
          <p:cNvPr id="18" name="Picture 17" descr="A screenshot of a graph&#10;&#10;AI-generated content may be incorrect.">
            <a:extLst>
              <a:ext uri="{FF2B5EF4-FFF2-40B4-BE49-F238E27FC236}">
                <a16:creationId xmlns:a16="http://schemas.microsoft.com/office/drawing/2014/main" id="{2E59A8B1-FF01-39A3-AF80-CF3FAB3E1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4" y="771543"/>
            <a:ext cx="7974698" cy="6004560"/>
          </a:xfrm>
          <a:prstGeom prst="rect">
            <a:avLst/>
          </a:prstGeom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BDD2295-126B-9DEF-8D3B-7C925D16E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836517"/>
              </p:ext>
            </p:extLst>
          </p:nvPr>
        </p:nvGraphicFramePr>
        <p:xfrm>
          <a:off x="8206391" y="737761"/>
          <a:ext cx="3968506" cy="600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253">
                  <a:extLst>
                    <a:ext uri="{9D8B030D-6E8A-4147-A177-3AD203B41FA5}">
                      <a16:colId xmlns:a16="http://schemas.microsoft.com/office/drawing/2014/main" val="865339093"/>
                    </a:ext>
                  </a:extLst>
                </a:gridCol>
                <a:gridCol w="1984253">
                  <a:extLst>
                    <a:ext uri="{9D8B030D-6E8A-4147-A177-3AD203B41FA5}">
                      <a16:colId xmlns:a16="http://schemas.microsoft.com/office/drawing/2014/main" val="341802010"/>
                    </a:ext>
                  </a:extLst>
                </a:gridCol>
              </a:tblGrid>
              <a:tr h="420407">
                <a:tc>
                  <a:txBody>
                    <a:bodyPr/>
                    <a:lstStyle/>
                    <a:p>
                      <a:pPr fontAlgn="t" latinLnBrk="0"/>
                      <a:r>
                        <a:rPr lang="en-US" b="0" dirty="0">
                          <a:effectLst/>
                        </a:rPr>
                        <a:t>Parameter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b="0">
                          <a:effectLst/>
                        </a:rPr>
                        <a:t>Value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871729188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Agent Type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rlSACAgent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81556852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Status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Training finished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77640010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Episode number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1275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862094698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Episode reward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678.6394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136753748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Episode steps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1000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463825074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Total agent steps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429523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228675420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Average reward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568.8881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474238648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Average steps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863.75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679302319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Episode Q0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-7.9169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005003002"/>
                  </a:ext>
                </a:extLst>
              </a:tr>
              <a:tr h="900872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Evaluation Statistic (MeanEpisodeReward)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715.6222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496388172"/>
                  </a:ext>
                </a:extLst>
              </a:tr>
              <a:tr h="63061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Averaging window length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100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004957313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Training stopped by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EvaluationStatistic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872649543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Training stopped at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700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948884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433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0AEB3-78F1-C5CF-6F75-7C103C888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AC730-68E6-4ECD-2827-88EDA9874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B4067-B393-A234-A5B5-A65235C78F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889B0-5135-0A37-028B-E286516CBA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F7F67-D8C1-246A-09B7-2B6151961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02C06F8D-E116-6A43-FB42-0937D47271B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18803" r="18803"/>
          <a:stretch/>
        </p:blipFill>
        <p:spPr>
          <a:xfrm>
            <a:off x="0" y="0"/>
            <a:ext cx="12192000" cy="6662057"/>
          </a:xfrm>
        </p:spPr>
      </p:pic>
      <p:sp>
        <p:nvSpPr>
          <p:cNvPr id="12" name="Title 12">
            <a:extLst>
              <a:ext uri="{FF2B5EF4-FFF2-40B4-BE49-F238E27FC236}">
                <a16:creationId xmlns:a16="http://schemas.microsoft.com/office/drawing/2014/main" id="{45D449B1-E1A3-BA6D-6994-50BE8CF171D5}"/>
              </a:ext>
            </a:extLst>
          </p:cNvPr>
          <p:cNvSpPr txBox="1">
            <a:spLocks/>
          </p:cNvSpPr>
          <p:nvPr/>
        </p:nvSpPr>
        <p:spPr>
          <a:xfrm>
            <a:off x="-1083787" y="-45440"/>
            <a:ext cx="4314145" cy="862423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>
            <a:lvl1pPr algn="ctr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Results</a:t>
            </a:r>
            <a:endParaRPr lang="en-US" dirty="0"/>
          </a:p>
        </p:txBody>
      </p:sp>
      <p:sp>
        <p:nvSpPr>
          <p:cNvPr id="14" name="Footer Placeholder 60">
            <a:extLst>
              <a:ext uri="{FF2B5EF4-FFF2-40B4-BE49-F238E27FC236}">
                <a16:creationId xmlns:a16="http://schemas.microsoft.com/office/drawing/2014/main" id="{7A813FBB-CFA2-BEEA-59BD-5D142939D3F4}"/>
              </a:ext>
            </a:extLst>
          </p:cNvPr>
          <p:cNvSpPr txBox="1">
            <a:spLocks/>
          </p:cNvSpPr>
          <p:nvPr/>
        </p:nvSpPr>
        <p:spPr>
          <a:xfrm>
            <a:off x="1073286" y="1908438"/>
            <a:ext cx="3251971" cy="862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900" kern="1200" cap="all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F1A47D9E-45D1-6E06-4D91-97D7EDAF29F8}"/>
              </a:ext>
            </a:extLst>
          </p:cNvPr>
          <p:cNvSpPr txBox="1">
            <a:spLocks/>
          </p:cNvSpPr>
          <p:nvPr/>
        </p:nvSpPr>
        <p:spPr>
          <a:xfrm>
            <a:off x="2906661" y="-668834"/>
            <a:ext cx="7962014" cy="1472261"/>
          </a:xfrm>
          <a:prstGeom prst="rect">
            <a:avLst/>
          </a:prstGeom>
        </p:spPr>
        <p:txBody>
          <a:bodyPr vert="horz" lIns="457200" tIns="822960" rIns="45720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24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30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08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68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/>
              <a:t>New Award Function + New Network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8ED02BF-31F8-5725-9F0C-BA96A2526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439583"/>
              </p:ext>
            </p:extLst>
          </p:nvPr>
        </p:nvGraphicFramePr>
        <p:xfrm>
          <a:off x="8206391" y="737761"/>
          <a:ext cx="3968506" cy="600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253">
                  <a:extLst>
                    <a:ext uri="{9D8B030D-6E8A-4147-A177-3AD203B41FA5}">
                      <a16:colId xmlns:a16="http://schemas.microsoft.com/office/drawing/2014/main" val="865339093"/>
                    </a:ext>
                  </a:extLst>
                </a:gridCol>
                <a:gridCol w="1984253">
                  <a:extLst>
                    <a:ext uri="{9D8B030D-6E8A-4147-A177-3AD203B41FA5}">
                      <a16:colId xmlns:a16="http://schemas.microsoft.com/office/drawing/2014/main" val="341802010"/>
                    </a:ext>
                  </a:extLst>
                </a:gridCol>
              </a:tblGrid>
              <a:tr h="420407">
                <a:tc>
                  <a:txBody>
                    <a:bodyPr/>
                    <a:lstStyle/>
                    <a:p>
                      <a:pPr fontAlgn="t" latinLnBrk="0"/>
                      <a:r>
                        <a:rPr lang="en-US" b="0" dirty="0">
                          <a:effectLst/>
                        </a:rPr>
                        <a:t>Parameter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b="0">
                          <a:effectLst/>
                        </a:rPr>
                        <a:t>Value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871729188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Agent Type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rlSACAgent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81556852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Status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Training finished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77640010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Episode number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1175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862094698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Episode reward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878.6394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136753748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Episode steps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1000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463825074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Total agent steps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359523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228675420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Average reward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491.2281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474238648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Average steps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763.75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679302319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Episode Q0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-7.1269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005003002"/>
                  </a:ext>
                </a:extLst>
              </a:tr>
              <a:tr h="900872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Evaluation Statistic (MeanEpisodeReward)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791.9993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496388172"/>
                  </a:ext>
                </a:extLst>
              </a:tr>
              <a:tr h="63061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Averaging window length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100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004957313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Training stopped by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EvaluationStatistic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872649543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>
                          <a:effectLst/>
                        </a:rPr>
                        <a:t>Training stopped at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dirty="0">
                          <a:effectLst/>
                        </a:rPr>
                        <a:t>700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948884104"/>
                  </a:ext>
                </a:extLst>
              </a:tr>
            </a:tbl>
          </a:graphicData>
        </a:graphic>
      </p:graphicFrame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D1F743-8362-DCD4-EA31-F334375D9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7" y="737760"/>
            <a:ext cx="7962014" cy="600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74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2D738-A6D0-1ED7-E4DD-1342A0E03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37C51-A776-E949-B6C0-F2373182E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920997-A3C8-1A37-C4F1-0862E83FA3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D9732-4ACF-50B3-A8A6-9472D06BC5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88520-4766-509D-3DF6-4A52FC555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0DF10FD-11A7-8DA3-6514-AA5299FD2A4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18803" r="18803"/>
          <a:stretch/>
        </p:blipFill>
        <p:spPr>
          <a:xfrm>
            <a:off x="0" y="0"/>
            <a:ext cx="12192000" cy="6662057"/>
          </a:xfrm>
        </p:spPr>
      </p:pic>
      <p:sp>
        <p:nvSpPr>
          <p:cNvPr id="12" name="Title 12">
            <a:extLst>
              <a:ext uri="{FF2B5EF4-FFF2-40B4-BE49-F238E27FC236}">
                <a16:creationId xmlns:a16="http://schemas.microsoft.com/office/drawing/2014/main" id="{53F76072-8B6E-DE0A-871F-26E608759DBC}"/>
              </a:ext>
            </a:extLst>
          </p:cNvPr>
          <p:cNvSpPr txBox="1">
            <a:spLocks/>
          </p:cNvSpPr>
          <p:nvPr/>
        </p:nvSpPr>
        <p:spPr>
          <a:xfrm>
            <a:off x="-1083787" y="-45440"/>
            <a:ext cx="4314145" cy="862423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>
            <a:lvl1pPr algn="ctr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Results</a:t>
            </a:r>
            <a:endParaRPr lang="en-US" dirty="0"/>
          </a:p>
        </p:txBody>
      </p:sp>
      <p:sp>
        <p:nvSpPr>
          <p:cNvPr id="14" name="Footer Placeholder 60">
            <a:extLst>
              <a:ext uri="{FF2B5EF4-FFF2-40B4-BE49-F238E27FC236}">
                <a16:creationId xmlns:a16="http://schemas.microsoft.com/office/drawing/2014/main" id="{A399E592-02A1-5DC9-B870-23FE6EA9D050}"/>
              </a:ext>
            </a:extLst>
          </p:cNvPr>
          <p:cNvSpPr txBox="1">
            <a:spLocks/>
          </p:cNvSpPr>
          <p:nvPr/>
        </p:nvSpPr>
        <p:spPr>
          <a:xfrm>
            <a:off x="1073286" y="1908438"/>
            <a:ext cx="3251971" cy="862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900" kern="1200" cap="all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3" name="Title 12">
            <a:extLst>
              <a:ext uri="{FF2B5EF4-FFF2-40B4-BE49-F238E27FC236}">
                <a16:creationId xmlns:a16="http://schemas.microsoft.com/office/drawing/2014/main" id="{667BB2D4-E48F-4C99-A88F-6137636E761F}"/>
              </a:ext>
            </a:extLst>
          </p:cNvPr>
          <p:cNvSpPr txBox="1">
            <a:spLocks/>
          </p:cNvSpPr>
          <p:nvPr/>
        </p:nvSpPr>
        <p:spPr>
          <a:xfrm>
            <a:off x="7122582" y="1159031"/>
            <a:ext cx="4314145" cy="862423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>
            <a:lvl1pPr algn="ctr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rgbClr val="C00000"/>
                </a:solidFill>
              </a:rPr>
              <a:t>Failed Tries</a:t>
            </a:r>
            <a:endParaRPr lang="en-US" sz="4400" dirty="0">
              <a:solidFill>
                <a:srgbClr val="C00000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277FD2-3601-A772-701E-F04A0390F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14" y="834689"/>
            <a:ext cx="6519884" cy="4501175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C8006A-EB84-2B44-A547-26F008484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441" y="2777008"/>
            <a:ext cx="7320445" cy="3934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5319C5-EA8A-1BA3-1688-EBA999EFF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911" y="5599267"/>
            <a:ext cx="3986029" cy="101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20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226C9-4C03-EBB0-5550-BF7712886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3781" y="658762"/>
            <a:ext cx="6351638" cy="5201247"/>
          </a:xfrm>
        </p:spPr>
        <p:txBody>
          <a:bodyPr anchor="ctr">
            <a:normAutofit/>
          </a:bodyPr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55" descr="A robotic arm with a ball and a ball&#10;&#10;AI-generated content may be incorrect.">
            <a:extLst>
              <a:ext uri="{FF2B5EF4-FFF2-40B4-BE49-F238E27FC236}">
                <a16:creationId xmlns:a16="http://schemas.microsoft.com/office/drawing/2014/main" id="{EE235775-28AB-22BE-3B21-08180E8B7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3928" y="948324"/>
            <a:ext cx="3429000" cy="2806416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</a:ln>
        </p:spPr>
      </p:pic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45166E84-D2D4-FF04-0DF4-E925709A2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53781" y="6085795"/>
            <a:ext cx="3428434" cy="29493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Architectural Drafting and Planning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2BE44-52CB-1E62-063D-1F7B3B12E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182" y="6115665"/>
            <a:ext cx="474545" cy="24366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3419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">
      <a:dk1>
        <a:srgbClr val="000000"/>
      </a:dk1>
      <a:lt1>
        <a:srgbClr val="FFFFFF"/>
      </a:lt1>
      <a:dk2>
        <a:srgbClr val="242F41"/>
      </a:dk2>
      <a:lt2>
        <a:srgbClr val="E2E6E8"/>
      </a:lt2>
      <a:accent1>
        <a:srgbClr val="CE7242"/>
      </a:accent1>
      <a:accent2>
        <a:srgbClr val="4050C6"/>
      </a:accent2>
      <a:accent3>
        <a:srgbClr val="5A68CE"/>
      </a:accent3>
      <a:accent4>
        <a:srgbClr val="BC30AF"/>
      </a:accent4>
      <a:accent5>
        <a:srgbClr val="A042CE"/>
      </a:accent5>
      <a:accent6>
        <a:srgbClr val="6444C2"/>
      </a:accent6>
      <a:hlink>
        <a:srgbClr val="3B8AB3"/>
      </a:hlink>
      <a:folHlink>
        <a:srgbClr val="7F7F7F"/>
      </a:folHlink>
    </a:clrScheme>
    <a:fontScheme name="Custom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0870617_Win32_SL_v4" id="{352587A7-A0EF-4556-B874-046F84C2953A}" vid="{B8F94B47-5699-492D-880B-93801CB3A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32324C-71C3-4F1C-A370-A2665FF5CDF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76DE935-925F-49AD-A9C2-6284C7807A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3D3917-8912-4844-9F02-0D751C13D8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corporate teach a course</Template>
  <TotalTime>217</TotalTime>
  <Words>549</Words>
  <Application>Microsoft Office PowerPoint</Application>
  <PresentationFormat>Widescreen</PresentationFormat>
  <Paragraphs>184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fkGroteskNeue</vt:lpstr>
      <vt:lpstr>Gill Sans MT</vt:lpstr>
      <vt:lpstr>Wingdings 2</vt:lpstr>
      <vt:lpstr>Custom</vt:lpstr>
      <vt:lpstr>Train S-A-C Agent for Ball Balance Control Using RL Agents </vt:lpstr>
      <vt:lpstr>Objectives</vt:lpstr>
      <vt:lpstr>What We will discuss</vt:lpstr>
      <vt:lpstr>Kinova Gen3 robot Parts</vt:lpstr>
      <vt:lpstr>Observations</vt:lpstr>
      <vt:lpstr>System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Nassef</dc:creator>
  <cp:lastModifiedBy>Youssef Nassef</cp:lastModifiedBy>
  <cp:revision>5</cp:revision>
  <dcterms:created xsi:type="dcterms:W3CDTF">2025-05-16T23:10:56Z</dcterms:created>
  <dcterms:modified xsi:type="dcterms:W3CDTF">2025-05-18T16:04:03Z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